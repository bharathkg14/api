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7132320" y="-1097280"/>
            <a:ext cx="3657600" cy="3657600"/>
          </a:xfrm>
          <a:prstGeom prst="ellipse">
            <a:avLst/>
          </a:prstGeom>
          <a:solidFill>
            <a:srgbClr val="0891B2">
              <a:alpha val="30000"/>
            </a:srgbClr>
          </a:solidFill>
          <a:ln w="12700">
            <a:solidFill>
              <a:srgbClr val="0891B2"/>
            </a:solidFill>
            <a:prstDash val="solid"/>
          </a:ln>
        </p:spPr>
      </p:sp>
      <p:sp>
        <p:nvSpPr>
          <p:cNvPr id="3" name="Shape 1"/>
          <p:cNvSpPr/>
          <p:nvPr/>
        </p:nvSpPr>
        <p:spPr>
          <a:xfrm>
            <a:off x="7772400" y="3200400"/>
            <a:ext cx="2286000" cy="2286000"/>
          </a:xfrm>
          <a:prstGeom prst="ellipse">
            <a:avLst/>
          </a:prstGeom>
          <a:solidFill>
            <a:srgbClr val="38BDF8">
              <a:alpha val="20000"/>
            </a:srgbClr>
          </a:solidFill>
          <a:ln w="12700">
            <a:solidFill>
              <a:srgbClr val="0891B2"/>
            </a:solidFill>
            <a:prstDash val="solid"/>
          </a:ln>
        </p:spPr>
      </p:sp>
      <p:sp>
        <p:nvSpPr>
          <p:cNvPr id="4" name="Text 2"/>
          <p:cNvSpPr/>
          <p:nvPr/>
        </p:nvSpPr>
        <p:spPr>
          <a:xfrm>
            <a:off x="548640" y="1097280"/>
            <a:ext cx="7315200" cy="365760"/>
          </a:xfrm>
          <a:prstGeom prst="rect">
            <a:avLst/>
          </a:prstGeom>
          <a:noFill/>
          <a:ln/>
        </p:spPr>
        <p:txBody>
          <a:bodyPr wrap="square" rtlCol="0" anchor="ctr"/>
          <a:lstStyle/>
          <a:p>
            <a:pPr algn="l" indent="0" marL="0">
              <a:buNone/>
            </a:pPr>
            <a:r>
              <a:rPr lang="en-US" sz="1100" b="1" spc="400" kern="0" dirty="0">
                <a:solidFill>
                  <a:srgbClr val="38BDF8"/>
                </a:solidFill>
                <a:latin typeface="Calibri" pitchFamily="34" charset="0"/>
                <a:ea typeface="Calibri" pitchFamily="34" charset="-122"/>
                <a:cs typeface="Calibri" pitchFamily="34" charset="-120"/>
              </a:rPr>
              <a:t>COMM_DEV PLATFORM   ·   CORTEX AI POC</a:t>
            </a:r>
            <a:endParaRPr lang="en-US" sz="1100" dirty="0"/>
          </a:p>
        </p:txBody>
      </p:sp>
      <p:sp>
        <p:nvSpPr>
          <p:cNvPr id="5" name="Text 3"/>
          <p:cNvSpPr/>
          <p:nvPr/>
        </p:nvSpPr>
        <p:spPr>
          <a:xfrm>
            <a:off x="548640" y="1554480"/>
            <a:ext cx="7772400" cy="1097280"/>
          </a:xfrm>
          <a:prstGeom prst="rect">
            <a:avLst/>
          </a:prstGeom>
          <a:noFill/>
          <a:ln/>
        </p:spPr>
        <p:txBody>
          <a:bodyPr wrap="square" rtlCol="0" anchor="ctr"/>
          <a:lstStyle/>
          <a:p>
            <a:pPr algn="l" indent="0" marL="0">
              <a:buNone/>
            </a:pPr>
            <a:r>
              <a:rPr lang="en-US" sz="5200" b="1" dirty="0">
                <a:solidFill>
                  <a:srgbClr val="FFFFFF"/>
                </a:solidFill>
                <a:latin typeface="Cambria" pitchFamily="34" charset="0"/>
                <a:ea typeface="Cambria" pitchFamily="34" charset="-122"/>
                <a:cs typeface="Cambria" pitchFamily="34" charset="-120"/>
              </a:rPr>
              <a:t>Pipeline Intelligence</a:t>
            </a:r>
            <a:endParaRPr lang="en-US" sz="5200" dirty="0"/>
          </a:p>
        </p:txBody>
      </p:sp>
      <p:sp>
        <p:nvSpPr>
          <p:cNvPr id="6" name="Text 4"/>
          <p:cNvSpPr/>
          <p:nvPr/>
        </p:nvSpPr>
        <p:spPr>
          <a:xfrm>
            <a:off x="548640" y="2697480"/>
            <a:ext cx="7772400" cy="548640"/>
          </a:xfrm>
          <a:prstGeom prst="rect">
            <a:avLst/>
          </a:prstGeom>
          <a:noFill/>
          <a:ln/>
        </p:spPr>
        <p:txBody>
          <a:bodyPr wrap="square" rtlCol="0" anchor="ctr"/>
          <a:lstStyle/>
          <a:p>
            <a:pPr algn="l" indent="0" marL="0">
              <a:buNone/>
            </a:pPr>
            <a:r>
              <a:rPr lang="en-US" sz="2000" dirty="0">
                <a:solidFill>
                  <a:srgbClr val="38BDF8"/>
                </a:solidFill>
                <a:latin typeface="Calibri" pitchFamily="34" charset="0"/>
                <a:ea typeface="Calibri" pitchFamily="34" charset="-122"/>
                <a:cs typeface="Calibri" pitchFamily="34" charset="-120"/>
              </a:rPr>
              <a:t>AI-Powered Metadata Insights &amp; Anomaly Detection</a:t>
            </a:r>
            <a:endParaRPr lang="en-US" sz="2000" dirty="0"/>
          </a:p>
        </p:txBody>
      </p:sp>
      <p:sp>
        <p:nvSpPr>
          <p:cNvPr id="7" name="Shape 5"/>
          <p:cNvSpPr/>
          <p:nvPr/>
        </p:nvSpPr>
        <p:spPr>
          <a:xfrm>
            <a:off x="548640" y="3337560"/>
            <a:ext cx="4114800" cy="0"/>
          </a:xfrm>
          <a:prstGeom prst="line">
            <a:avLst/>
          </a:prstGeom>
          <a:noFill/>
          <a:ln w="25400">
            <a:solidFill>
              <a:srgbClr val="0891B2"/>
            </a:solidFill>
            <a:prstDash val="solid"/>
          </a:ln>
        </p:spPr>
      </p:sp>
      <p:sp>
        <p:nvSpPr>
          <p:cNvPr id="8" name="Text 6"/>
          <p:cNvSpPr/>
          <p:nvPr/>
        </p:nvSpPr>
        <p:spPr>
          <a:xfrm>
            <a:off x="548640" y="3520440"/>
            <a:ext cx="6858000" cy="777240"/>
          </a:xfrm>
          <a:prstGeom prst="rect">
            <a:avLst/>
          </a:prstGeom>
          <a:noFill/>
          <a:ln/>
        </p:spPr>
        <p:txBody>
          <a:bodyPr wrap="square" rtlCol="0" anchor="ctr"/>
          <a:lstStyle/>
          <a:p>
            <a:pPr algn="l" indent="0" marL="0">
              <a:buNone/>
            </a:pPr>
            <a:r>
              <a:rPr lang="en-US" sz="1300" dirty="0">
                <a:solidFill>
                  <a:srgbClr val="94A3B8"/>
                </a:solidFill>
                <a:latin typeface="Calibri" pitchFamily="34" charset="0"/>
                <a:ea typeface="Calibri" pitchFamily="34" charset="-122"/>
                <a:cs typeface="Calibri" pitchFamily="34" charset="-120"/>
              </a:rPr>
              <a:t>No new data. No data movement.</a:t>
            </a:r>
            <a:endParaRPr lang="en-US" sz="1300" dirty="0"/>
          </a:p>
          <a:p>
            <a:pPr algn="l" indent="0" marL="0">
              <a:buNone/>
            </a:pPr>
            <a:r>
              <a:rPr lang="en-US" sz="1300" dirty="0">
                <a:solidFill>
                  <a:srgbClr val="94A3B8"/>
                </a:solidFill>
                <a:latin typeface="Calibri" pitchFamily="34" charset="0"/>
                <a:ea typeface="Calibri" pitchFamily="34" charset="-122"/>
                <a:cs typeface="Calibri" pitchFamily="34" charset="-120"/>
              </a:rPr>
              <a:t>Built natively in Snowflake — COMM_DEV.SANDBOX schema.</a:t>
            </a:r>
            <a:endParaRPr lang="en-US" sz="1300" dirty="0"/>
          </a:p>
        </p:txBody>
      </p:sp>
      <p:sp>
        <p:nvSpPr>
          <p:cNvPr id="9" name="Text 7"/>
          <p:cNvSpPr/>
          <p:nvPr/>
        </p:nvSpPr>
        <p:spPr>
          <a:xfrm>
            <a:off x="548640" y="4663440"/>
            <a:ext cx="45720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June 2026   |   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800" b="1" dirty="0">
                <a:solidFill>
                  <a:srgbClr val="0D1B3E"/>
                </a:solidFill>
                <a:latin typeface="Cambria" pitchFamily="34" charset="0"/>
                <a:ea typeface="Cambria" pitchFamily="34" charset="-122"/>
                <a:cs typeface="Cambria" pitchFamily="34" charset="-120"/>
              </a:rPr>
              <a:t>Agenda</a:t>
            </a:r>
            <a:endParaRPr lang="en-US" sz="3800" dirty="0"/>
          </a:p>
        </p:txBody>
      </p:sp>
      <p:sp>
        <p:nvSpPr>
          <p:cNvPr id="3" name="Shape 1"/>
          <p:cNvSpPr/>
          <p:nvPr/>
        </p:nvSpPr>
        <p:spPr>
          <a:xfrm>
            <a:off x="457200" y="960120"/>
            <a:ext cx="8229600" cy="0"/>
          </a:xfrm>
          <a:prstGeom prst="line">
            <a:avLst/>
          </a:prstGeom>
          <a:noFill/>
          <a:ln w="19050">
            <a:solidFill>
              <a:srgbClr val="0891B2"/>
            </a:solidFill>
            <a:prstDash val="solid"/>
          </a:ln>
        </p:spPr>
      </p:sp>
      <p:sp>
        <p:nvSpPr>
          <p:cNvPr id="4" name="Shape 2"/>
          <p:cNvSpPr/>
          <p:nvPr/>
        </p:nvSpPr>
        <p:spPr>
          <a:xfrm>
            <a:off x="457200" y="1143000"/>
            <a:ext cx="8229600" cy="640080"/>
          </a:xfrm>
          <a:prstGeom prst="roundRect">
            <a:avLst>
              <a:gd name="adj" fmla="val 11429"/>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457200" y="1143000"/>
            <a:ext cx="640080" cy="640080"/>
          </a:xfrm>
          <a:prstGeom prst="roundRect">
            <a:avLst>
              <a:gd name="adj" fmla="val 11429"/>
            </a:avLst>
          </a:prstGeom>
          <a:solidFill>
            <a:srgbClr val="0891B2"/>
          </a:solidFill>
          <a:ln w="12700">
            <a:solidFill>
              <a:srgbClr val="0891B2"/>
            </a:solidFill>
            <a:prstDash val="solid"/>
          </a:ln>
        </p:spPr>
      </p:sp>
      <p:sp>
        <p:nvSpPr>
          <p:cNvPr id="6" name="Text 4"/>
          <p:cNvSpPr/>
          <p:nvPr/>
        </p:nvSpPr>
        <p:spPr>
          <a:xfrm>
            <a:off x="457200" y="1234440"/>
            <a:ext cx="64008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7" name="Text 5"/>
          <p:cNvSpPr/>
          <p:nvPr/>
        </p:nvSpPr>
        <p:spPr>
          <a:xfrm>
            <a:off x="1234440" y="1188720"/>
            <a:ext cx="3200400" cy="320040"/>
          </a:xfrm>
          <a:prstGeom prst="rect">
            <a:avLst/>
          </a:prstGeom>
          <a:noFill/>
          <a:ln/>
        </p:spPr>
        <p:txBody>
          <a:bodyPr wrap="square" lIns="0" tIns="0" rIns="0" bIns="0"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Where the Data Comes From</a:t>
            </a:r>
            <a:endParaRPr lang="en-US" sz="1400" dirty="0"/>
          </a:p>
        </p:txBody>
      </p:sp>
      <p:sp>
        <p:nvSpPr>
          <p:cNvPr id="8" name="Text 6"/>
          <p:cNvSpPr/>
          <p:nvPr/>
        </p:nvSpPr>
        <p:spPr>
          <a:xfrm>
            <a:off x="1234440" y="1481328"/>
            <a:ext cx="7132320" cy="25603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Sources: GOLD.METRIC_AGGREGATE, INFORMATION_SCHEMA, ACCOUNT_USAGE</a:t>
            </a:r>
            <a:endParaRPr lang="en-US" sz="1000" dirty="0"/>
          </a:p>
        </p:txBody>
      </p:sp>
      <p:sp>
        <p:nvSpPr>
          <p:cNvPr id="9" name="Shape 7"/>
          <p:cNvSpPr/>
          <p:nvPr/>
        </p:nvSpPr>
        <p:spPr>
          <a:xfrm>
            <a:off x="457200" y="1892808"/>
            <a:ext cx="8229600" cy="640080"/>
          </a:xfrm>
          <a:prstGeom prst="roundRect">
            <a:avLst>
              <a:gd name="adj" fmla="val 11429"/>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457200" y="1892808"/>
            <a:ext cx="640080" cy="640080"/>
          </a:xfrm>
          <a:prstGeom prst="roundRect">
            <a:avLst>
              <a:gd name="adj" fmla="val 11429"/>
            </a:avLst>
          </a:prstGeom>
          <a:solidFill>
            <a:srgbClr val="0891B2"/>
          </a:solidFill>
          <a:ln w="12700">
            <a:solidFill>
              <a:srgbClr val="0891B2"/>
            </a:solidFill>
            <a:prstDash val="solid"/>
          </a:ln>
        </p:spPr>
      </p:sp>
      <p:sp>
        <p:nvSpPr>
          <p:cNvPr id="11" name="Text 9"/>
          <p:cNvSpPr/>
          <p:nvPr/>
        </p:nvSpPr>
        <p:spPr>
          <a:xfrm>
            <a:off x="457200" y="1984248"/>
            <a:ext cx="64008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2" name="Text 10"/>
          <p:cNvSpPr/>
          <p:nvPr/>
        </p:nvSpPr>
        <p:spPr>
          <a:xfrm>
            <a:off x="1234440" y="1938528"/>
            <a:ext cx="3200400" cy="320040"/>
          </a:xfrm>
          <a:prstGeom prst="rect">
            <a:avLst/>
          </a:prstGeom>
          <a:noFill/>
          <a:ln/>
        </p:spPr>
        <p:txBody>
          <a:bodyPr wrap="square" lIns="0" tIns="0" rIns="0" bIns="0"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Scenario 1 — Metadata Insights</a:t>
            </a:r>
            <a:endParaRPr lang="en-US" sz="1400" dirty="0"/>
          </a:p>
        </p:txBody>
      </p:sp>
      <p:sp>
        <p:nvSpPr>
          <p:cNvPr id="13" name="Text 11"/>
          <p:cNvSpPr/>
          <p:nvPr/>
        </p:nvSpPr>
        <p:spPr>
          <a:xfrm>
            <a:off x="1234440" y="2231136"/>
            <a:ext cx="7132320" cy="25603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AI-powered answers to 'what does this field mean?' and 'which tables are stale?'</a:t>
            </a:r>
            <a:endParaRPr lang="en-US" sz="1000" dirty="0"/>
          </a:p>
        </p:txBody>
      </p:sp>
      <p:sp>
        <p:nvSpPr>
          <p:cNvPr id="14" name="Shape 12"/>
          <p:cNvSpPr/>
          <p:nvPr/>
        </p:nvSpPr>
        <p:spPr>
          <a:xfrm>
            <a:off x="457200" y="2642616"/>
            <a:ext cx="8229600" cy="640080"/>
          </a:xfrm>
          <a:prstGeom prst="roundRect">
            <a:avLst>
              <a:gd name="adj" fmla="val 11429"/>
            </a:avLst>
          </a:prstGeom>
          <a:solidFill>
            <a:srgbClr val="FFFFFF"/>
          </a:solidFill>
          <a:ln/>
          <a:effectLst>
            <a:outerShdw sx="100000" sy="100000" kx="0" ky="0" algn="bl" rotWithShape="0" blurRad="101600" dist="38100" dir="2700000">
              <a:srgbClr val="000000">
                <a:alpha val="12000"/>
              </a:srgbClr>
            </a:outerShdw>
          </a:effectLst>
        </p:spPr>
      </p:sp>
      <p:sp>
        <p:nvSpPr>
          <p:cNvPr id="15" name="Shape 13"/>
          <p:cNvSpPr/>
          <p:nvPr/>
        </p:nvSpPr>
        <p:spPr>
          <a:xfrm>
            <a:off x="457200" y="2642616"/>
            <a:ext cx="640080" cy="640080"/>
          </a:xfrm>
          <a:prstGeom prst="roundRect">
            <a:avLst>
              <a:gd name="adj" fmla="val 11429"/>
            </a:avLst>
          </a:prstGeom>
          <a:solidFill>
            <a:srgbClr val="0891B2"/>
          </a:solidFill>
          <a:ln w="12700">
            <a:solidFill>
              <a:srgbClr val="0891B2"/>
            </a:solidFill>
            <a:prstDash val="solid"/>
          </a:ln>
        </p:spPr>
      </p:sp>
      <p:sp>
        <p:nvSpPr>
          <p:cNvPr id="16" name="Text 14"/>
          <p:cNvSpPr/>
          <p:nvPr/>
        </p:nvSpPr>
        <p:spPr>
          <a:xfrm>
            <a:off x="457200" y="2734056"/>
            <a:ext cx="64008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7" name="Text 15"/>
          <p:cNvSpPr/>
          <p:nvPr/>
        </p:nvSpPr>
        <p:spPr>
          <a:xfrm>
            <a:off x="1234440" y="2688336"/>
            <a:ext cx="3200400" cy="320040"/>
          </a:xfrm>
          <a:prstGeom prst="rect">
            <a:avLst/>
          </a:prstGeom>
          <a:noFill/>
          <a:ln/>
        </p:spPr>
        <p:txBody>
          <a:bodyPr wrap="square" lIns="0" tIns="0" rIns="0" bIns="0"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Scenario 2 — Anomaly Detection</a:t>
            </a:r>
            <a:endParaRPr lang="en-US" sz="1400" dirty="0"/>
          </a:p>
        </p:txBody>
      </p:sp>
      <p:sp>
        <p:nvSpPr>
          <p:cNvPr id="18" name="Text 16"/>
          <p:cNvSpPr/>
          <p:nvPr/>
        </p:nvSpPr>
        <p:spPr>
          <a:xfrm>
            <a:off x="1234440" y="2980944"/>
            <a:ext cx="7132320" cy="25603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Rule-free anomaly flagging with AI-written plain-English explanations</a:t>
            </a:r>
            <a:endParaRPr lang="en-US" sz="1000" dirty="0"/>
          </a:p>
        </p:txBody>
      </p:sp>
      <p:sp>
        <p:nvSpPr>
          <p:cNvPr id="19" name="Shape 17"/>
          <p:cNvSpPr/>
          <p:nvPr/>
        </p:nvSpPr>
        <p:spPr>
          <a:xfrm>
            <a:off x="457200" y="3392424"/>
            <a:ext cx="8229600" cy="640080"/>
          </a:xfrm>
          <a:prstGeom prst="roundRect">
            <a:avLst>
              <a:gd name="adj" fmla="val 11429"/>
            </a:avLst>
          </a:prstGeom>
          <a:solidFill>
            <a:srgbClr val="FFFFFF"/>
          </a:solidFill>
          <a:ln/>
          <a:effectLst>
            <a:outerShdw sx="100000" sy="100000" kx="0" ky="0" algn="bl" rotWithShape="0" blurRad="101600" dist="38100" dir="2700000">
              <a:srgbClr val="000000">
                <a:alpha val="12000"/>
              </a:srgbClr>
            </a:outerShdw>
          </a:effectLst>
        </p:spPr>
      </p:sp>
      <p:sp>
        <p:nvSpPr>
          <p:cNvPr id="20" name="Shape 18"/>
          <p:cNvSpPr/>
          <p:nvPr/>
        </p:nvSpPr>
        <p:spPr>
          <a:xfrm>
            <a:off x="457200" y="3392424"/>
            <a:ext cx="640080" cy="640080"/>
          </a:xfrm>
          <a:prstGeom prst="roundRect">
            <a:avLst>
              <a:gd name="adj" fmla="val 11429"/>
            </a:avLst>
          </a:prstGeom>
          <a:solidFill>
            <a:srgbClr val="0891B2"/>
          </a:solidFill>
          <a:ln w="12700">
            <a:solidFill>
              <a:srgbClr val="0891B2"/>
            </a:solidFill>
            <a:prstDash val="solid"/>
          </a:ln>
        </p:spPr>
      </p:sp>
      <p:sp>
        <p:nvSpPr>
          <p:cNvPr id="21" name="Text 19"/>
          <p:cNvSpPr/>
          <p:nvPr/>
        </p:nvSpPr>
        <p:spPr>
          <a:xfrm>
            <a:off x="457200" y="3483864"/>
            <a:ext cx="64008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04</a:t>
            </a:r>
            <a:endParaRPr lang="en-US" sz="1600" dirty="0"/>
          </a:p>
        </p:txBody>
      </p:sp>
      <p:sp>
        <p:nvSpPr>
          <p:cNvPr id="22" name="Text 20"/>
          <p:cNvSpPr/>
          <p:nvPr/>
        </p:nvSpPr>
        <p:spPr>
          <a:xfrm>
            <a:off x="1234440" y="3438144"/>
            <a:ext cx="3200400" cy="320040"/>
          </a:xfrm>
          <a:prstGeom prst="rect">
            <a:avLst/>
          </a:prstGeom>
          <a:noFill/>
          <a:ln/>
        </p:spPr>
        <p:txBody>
          <a:bodyPr wrap="square" lIns="0" tIns="0" rIns="0" bIns="0"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Architecture Flowchart</a:t>
            </a:r>
            <a:endParaRPr lang="en-US" sz="1400" dirty="0"/>
          </a:p>
        </p:txBody>
      </p:sp>
      <p:sp>
        <p:nvSpPr>
          <p:cNvPr id="23" name="Text 21"/>
          <p:cNvSpPr/>
          <p:nvPr/>
        </p:nvSpPr>
        <p:spPr>
          <a:xfrm>
            <a:off x="1234440" y="3730752"/>
            <a:ext cx="7132320" cy="25603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4-layer pipeline: Sources → Curated Views → AI Layer → Consumption</a:t>
            </a:r>
            <a:endParaRPr lang="en-US" sz="1000" dirty="0"/>
          </a:p>
        </p:txBody>
      </p:sp>
      <p:sp>
        <p:nvSpPr>
          <p:cNvPr id="24" name="Shape 22"/>
          <p:cNvSpPr/>
          <p:nvPr/>
        </p:nvSpPr>
        <p:spPr>
          <a:xfrm>
            <a:off x="457200" y="4142232"/>
            <a:ext cx="8229600" cy="640080"/>
          </a:xfrm>
          <a:prstGeom prst="roundRect">
            <a:avLst>
              <a:gd name="adj" fmla="val 11429"/>
            </a:avLst>
          </a:prstGeom>
          <a:solidFill>
            <a:srgbClr val="FFFFFF"/>
          </a:solidFill>
          <a:ln/>
          <a:effectLst>
            <a:outerShdw sx="100000" sy="100000" kx="0" ky="0" algn="bl" rotWithShape="0" blurRad="101600" dist="38100" dir="2700000">
              <a:srgbClr val="000000">
                <a:alpha val="12000"/>
              </a:srgbClr>
            </a:outerShdw>
          </a:effectLst>
        </p:spPr>
      </p:sp>
      <p:sp>
        <p:nvSpPr>
          <p:cNvPr id="25" name="Shape 23"/>
          <p:cNvSpPr/>
          <p:nvPr/>
        </p:nvSpPr>
        <p:spPr>
          <a:xfrm>
            <a:off x="457200" y="4142232"/>
            <a:ext cx="640080" cy="640080"/>
          </a:xfrm>
          <a:prstGeom prst="roundRect">
            <a:avLst>
              <a:gd name="adj" fmla="val 11429"/>
            </a:avLst>
          </a:prstGeom>
          <a:solidFill>
            <a:srgbClr val="0891B2"/>
          </a:solidFill>
          <a:ln w="12700">
            <a:solidFill>
              <a:srgbClr val="0891B2"/>
            </a:solidFill>
            <a:prstDash val="solid"/>
          </a:ln>
        </p:spPr>
      </p:sp>
      <p:sp>
        <p:nvSpPr>
          <p:cNvPr id="26" name="Text 24"/>
          <p:cNvSpPr/>
          <p:nvPr/>
        </p:nvSpPr>
        <p:spPr>
          <a:xfrm>
            <a:off x="457200" y="4233672"/>
            <a:ext cx="64008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05</a:t>
            </a:r>
            <a:endParaRPr lang="en-US" sz="1600" dirty="0"/>
          </a:p>
        </p:txBody>
      </p:sp>
      <p:sp>
        <p:nvSpPr>
          <p:cNvPr id="27" name="Text 25"/>
          <p:cNvSpPr/>
          <p:nvPr/>
        </p:nvSpPr>
        <p:spPr>
          <a:xfrm>
            <a:off x="1234440" y="4187952"/>
            <a:ext cx="3200400" cy="320040"/>
          </a:xfrm>
          <a:prstGeom prst="rect">
            <a:avLst/>
          </a:prstGeom>
          <a:noFill/>
          <a:ln/>
        </p:spPr>
        <p:txBody>
          <a:bodyPr wrap="square" lIns="0" tIns="0" rIns="0" bIns="0"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Live Demo SQL Queries</a:t>
            </a:r>
            <a:endParaRPr lang="en-US" sz="1400" dirty="0"/>
          </a:p>
        </p:txBody>
      </p:sp>
      <p:sp>
        <p:nvSpPr>
          <p:cNvPr id="28" name="Text 26"/>
          <p:cNvSpPr/>
          <p:nvPr/>
        </p:nvSpPr>
        <p:spPr>
          <a:xfrm>
            <a:off x="1234440" y="4480560"/>
            <a:ext cx="7132320" cy="25603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Actual queries run in Snowflake — field explain, stale tables, anomaly report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3E"/>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Where the Data Comes From</a:t>
            </a:r>
            <a:endParaRPr lang="en-US" sz="3400" dirty="0"/>
          </a:p>
        </p:txBody>
      </p:sp>
      <p:sp>
        <p:nvSpPr>
          <p:cNvPr id="3" name="Shape 1"/>
          <p:cNvSpPr/>
          <p:nvPr/>
        </p:nvSpPr>
        <p:spPr>
          <a:xfrm>
            <a:off x="457200" y="868680"/>
            <a:ext cx="8229600" cy="0"/>
          </a:xfrm>
          <a:prstGeom prst="line">
            <a:avLst/>
          </a:prstGeom>
          <a:noFill/>
          <a:ln w="19050">
            <a:solidFill>
              <a:srgbClr val="0891B2"/>
            </a:solidFill>
            <a:prstDash val="solid"/>
          </a:ln>
        </p:spPr>
      </p:sp>
      <p:sp>
        <p:nvSpPr>
          <p:cNvPr id="4" name="Shape 2"/>
          <p:cNvSpPr/>
          <p:nvPr/>
        </p:nvSpPr>
        <p:spPr>
          <a:xfrm>
            <a:off x="365760" y="1051560"/>
            <a:ext cx="2606040" cy="3657600"/>
          </a:xfrm>
          <a:prstGeom prst="roundRect">
            <a:avLst>
              <a:gd name="adj" fmla="val 4211"/>
            </a:avLst>
          </a:prstGeom>
          <a:solidFill>
            <a:srgbClr val="132347"/>
          </a:solidFill>
          <a:ln/>
          <a:effectLst>
            <a:outerShdw sx="100000" sy="100000" kx="0" ky="0" algn="bl" rotWithShape="0" blurRad="101600" dist="38100" dir="2700000">
              <a:srgbClr val="000000">
                <a:alpha val="12000"/>
              </a:srgbClr>
            </a:outerShdw>
          </a:effectLst>
        </p:spPr>
      </p:sp>
      <p:sp>
        <p:nvSpPr>
          <p:cNvPr id="5" name="Shape 3"/>
          <p:cNvSpPr/>
          <p:nvPr/>
        </p:nvSpPr>
        <p:spPr>
          <a:xfrm>
            <a:off x="1280160" y="1234440"/>
            <a:ext cx="777240" cy="777240"/>
          </a:xfrm>
          <a:prstGeom prst="ellipse">
            <a:avLst/>
          </a:prstGeom>
          <a:solidFill>
            <a:srgbClr val="0891B2"/>
          </a:solidFill>
          <a:ln w="12700">
            <a:solidFill>
              <a:srgbClr val="0891B2"/>
            </a:solidFill>
            <a:prstDash val="solid"/>
          </a:ln>
        </p:spPr>
      </p:sp>
      <p:sp>
        <p:nvSpPr>
          <p:cNvPr id="6" name="Text 4"/>
          <p:cNvSpPr/>
          <p:nvPr/>
        </p:nvSpPr>
        <p:spPr>
          <a:xfrm>
            <a:off x="1280160" y="1234440"/>
            <a:ext cx="777240" cy="7772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502920" y="2148840"/>
            <a:ext cx="2331720" cy="731520"/>
          </a:xfrm>
          <a:prstGeom prst="rect">
            <a:avLst/>
          </a:prstGeom>
          <a:noFill/>
          <a:ln/>
        </p:spPr>
        <p:txBody>
          <a:bodyPr wrap="square" rtlCol="0" anchor="ctr"/>
          <a:lstStyle/>
          <a:p>
            <a:pPr algn="ctr" indent="0" marL="0">
              <a:buNone/>
            </a:pPr>
            <a:r>
              <a:rPr lang="en-US" sz="1300" b="1" dirty="0">
                <a:solidFill>
                  <a:srgbClr val="38BDF8"/>
                </a:solidFill>
                <a:latin typeface="Calibri" pitchFamily="34" charset="0"/>
                <a:ea typeface="Calibri" pitchFamily="34" charset="-122"/>
                <a:cs typeface="Calibri" pitchFamily="34" charset="-120"/>
              </a:rPr>
              <a:t>GOLD.METRIC_AGGREGATE</a:t>
            </a:r>
            <a:endParaRPr lang="en-US" sz="1300" dirty="0"/>
          </a:p>
        </p:txBody>
      </p:sp>
      <p:sp>
        <p:nvSpPr>
          <p:cNvPr id="8" name="Text 6"/>
          <p:cNvSpPr/>
          <p:nvPr/>
        </p:nvSpPr>
        <p:spPr>
          <a:xfrm>
            <a:off x="502920" y="2926080"/>
            <a:ext cx="2331720" cy="155448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Daily business metrics</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(patient counts, MSL calls,</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speaker programs, etc.)</a:t>
            </a:r>
            <a:endParaRPr lang="en-US" sz="1100" dirty="0"/>
          </a:p>
        </p:txBody>
      </p:sp>
      <p:sp>
        <p:nvSpPr>
          <p:cNvPr id="9" name="Shape 7"/>
          <p:cNvSpPr/>
          <p:nvPr/>
        </p:nvSpPr>
        <p:spPr>
          <a:xfrm>
            <a:off x="3200400" y="1051560"/>
            <a:ext cx="2606040" cy="3657600"/>
          </a:xfrm>
          <a:prstGeom prst="roundRect">
            <a:avLst>
              <a:gd name="adj" fmla="val 4211"/>
            </a:avLst>
          </a:prstGeom>
          <a:solidFill>
            <a:srgbClr val="132347"/>
          </a:solidFill>
          <a:ln/>
          <a:effectLst>
            <a:outerShdw sx="100000" sy="100000" kx="0" ky="0" algn="bl" rotWithShape="0" blurRad="101600" dist="38100" dir="2700000">
              <a:srgbClr val="000000">
                <a:alpha val="12000"/>
              </a:srgbClr>
            </a:outerShdw>
          </a:effectLst>
        </p:spPr>
      </p:sp>
      <p:sp>
        <p:nvSpPr>
          <p:cNvPr id="10" name="Shape 8"/>
          <p:cNvSpPr/>
          <p:nvPr/>
        </p:nvSpPr>
        <p:spPr>
          <a:xfrm>
            <a:off x="4114800" y="1234440"/>
            <a:ext cx="777240" cy="777240"/>
          </a:xfrm>
          <a:prstGeom prst="ellipse">
            <a:avLst/>
          </a:prstGeom>
          <a:solidFill>
            <a:srgbClr val="0891B2"/>
          </a:solidFill>
          <a:ln w="12700">
            <a:solidFill>
              <a:srgbClr val="0891B2"/>
            </a:solidFill>
            <a:prstDash val="solid"/>
          </a:ln>
        </p:spPr>
      </p:sp>
      <p:sp>
        <p:nvSpPr>
          <p:cNvPr id="11" name="Text 9"/>
          <p:cNvSpPr/>
          <p:nvPr/>
        </p:nvSpPr>
        <p:spPr>
          <a:xfrm>
            <a:off x="4114800" y="1234440"/>
            <a:ext cx="777240" cy="7772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3337560" y="2148840"/>
            <a:ext cx="2331720" cy="731520"/>
          </a:xfrm>
          <a:prstGeom prst="rect">
            <a:avLst/>
          </a:prstGeom>
          <a:noFill/>
          <a:ln/>
        </p:spPr>
        <p:txBody>
          <a:bodyPr wrap="square" rtlCol="0" anchor="ctr"/>
          <a:lstStyle/>
          <a:p>
            <a:pPr algn="ctr" indent="0" marL="0">
              <a:buNone/>
            </a:pPr>
            <a:r>
              <a:rPr lang="en-US" sz="1300" b="1" dirty="0">
                <a:solidFill>
                  <a:srgbClr val="38BDF8"/>
                </a:solidFill>
                <a:latin typeface="Calibri" pitchFamily="34" charset="0"/>
                <a:ea typeface="Calibri" pitchFamily="34" charset="-122"/>
                <a:cs typeface="Calibri" pitchFamily="34" charset="-120"/>
              </a:rPr>
              <a:t>INFORMATION_SCHEMA</a:t>
            </a:r>
            <a:endParaRPr lang="en-US" sz="1300" dirty="0"/>
          </a:p>
        </p:txBody>
      </p:sp>
      <p:sp>
        <p:nvSpPr>
          <p:cNvPr id="13" name="Text 11"/>
          <p:cNvSpPr/>
          <p:nvPr/>
        </p:nvSpPr>
        <p:spPr>
          <a:xfrm>
            <a:off x="3337560" y="2926080"/>
            <a:ext cx="2331720" cy="155448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Table names, columns,</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last refresh times, lineage</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(tables/columns/refresh)</a:t>
            </a:r>
            <a:endParaRPr lang="en-US" sz="1100" dirty="0"/>
          </a:p>
        </p:txBody>
      </p:sp>
      <p:sp>
        <p:nvSpPr>
          <p:cNvPr id="14" name="Shape 12"/>
          <p:cNvSpPr/>
          <p:nvPr/>
        </p:nvSpPr>
        <p:spPr>
          <a:xfrm>
            <a:off x="6035040" y="1051560"/>
            <a:ext cx="2606040" cy="3657600"/>
          </a:xfrm>
          <a:prstGeom prst="roundRect">
            <a:avLst>
              <a:gd name="adj" fmla="val 4211"/>
            </a:avLst>
          </a:prstGeom>
          <a:solidFill>
            <a:srgbClr val="132347"/>
          </a:solidFill>
          <a:ln/>
          <a:effectLst>
            <a:outerShdw sx="100000" sy="100000" kx="0" ky="0" algn="bl" rotWithShape="0" blurRad="101600" dist="38100" dir="2700000">
              <a:srgbClr val="000000">
                <a:alpha val="12000"/>
              </a:srgbClr>
            </a:outerShdw>
          </a:effectLst>
        </p:spPr>
      </p:sp>
      <p:sp>
        <p:nvSpPr>
          <p:cNvPr id="15" name="Shape 13"/>
          <p:cNvSpPr/>
          <p:nvPr/>
        </p:nvSpPr>
        <p:spPr>
          <a:xfrm>
            <a:off x="6949440" y="1234440"/>
            <a:ext cx="777240" cy="777240"/>
          </a:xfrm>
          <a:prstGeom prst="ellipse">
            <a:avLst/>
          </a:prstGeom>
          <a:solidFill>
            <a:srgbClr val="0891B2"/>
          </a:solidFill>
          <a:ln w="12700">
            <a:solidFill>
              <a:srgbClr val="0891B2"/>
            </a:solidFill>
            <a:prstDash val="solid"/>
          </a:ln>
        </p:spPr>
      </p:sp>
      <p:sp>
        <p:nvSpPr>
          <p:cNvPr id="16" name="Text 14"/>
          <p:cNvSpPr/>
          <p:nvPr/>
        </p:nvSpPr>
        <p:spPr>
          <a:xfrm>
            <a:off x="6949440" y="1234440"/>
            <a:ext cx="777240" cy="7772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6172200" y="2148840"/>
            <a:ext cx="2331720" cy="731520"/>
          </a:xfrm>
          <a:prstGeom prst="rect">
            <a:avLst/>
          </a:prstGeom>
          <a:noFill/>
          <a:ln/>
        </p:spPr>
        <p:txBody>
          <a:bodyPr wrap="square" rtlCol="0" anchor="ctr"/>
          <a:lstStyle/>
          <a:p>
            <a:pPr algn="ctr" indent="0" marL="0">
              <a:buNone/>
            </a:pPr>
            <a:r>
              <a:rPr lang="en-US" sz="1300" b="1" dirty="0">
                <a:solidFill>
                  <a:srgbClr val="38BDF8"/>
                </a:solidFill>
                <a:latin typeface="Calibri" pitchFamily="34" charset="0"/>
                <a:ea typeface="Calibri" pitchFamily="34" charset="-122"/>
                <a:cs typeface="Calibri" pitchFamily="34" charset="-120"/>
              </a:rPr>
              <a:t>ACCOUNT_USAGE</a:t>
            </a:r>
            <a:endParaRPr lang="en-US" sz="1300" dirty="0"/>
          </a:p>
          <a:p>
            <a:pPr algn="ctr" indent="0" marL="0">
              <a:buNone/>
            </a:pPr>
            <a:r>
              <a:rPr lang="en-US" sz="1300" b="1" dirty="0">
                <a:solidFill>
                  <a:srgbClr val="38BDF8"/>
                </a:solidFill>
                <a:latin typeface="Calibri" pitchFamily="34" charset="0"/>
                <a:ea typeface="Calibri" pitchFamily="34" charset="-122"/>
                <a:cs typeface="Calibri" pitchFamily="34" charset="-120"/>
              </a:rPr>
              <a:t>OBJECT_DEPENDENCIES</a:t>
            </a:r>
            <a:endParaRPr lang="en-US" sz="1300" dirty="0"/>
          </a:p>
        </p:txBody>
      </p:sp>
      <p:sp>
        <p:nvSpPr>
          <p:cNvPr id="18" name="Text 16"/>
          <p:cNvSpPr/>
          <p:nvPr/>
        </p:nvSpPr>
        <p:spPr>
          <a:xfrm>
            <a:off x="6172200" y="2926080"/>
            <a:ext cx="2331720" cy="155448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Snowflake built-in metadata</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'data about our data'</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lineage &amp; dependencies</a:t>
            </a:r>
            <a:endParaRPr lang="en-US" sz="1100" dirty="0"/>
          </a:p>
        </p:txBody>
      </p:sp>
      <p:sp>
        <p:nvSpPr>
          <p:cNvPr id="19" name="Text 17"/>
          <p:cNvSpPr/>
          <p:nvPr/>
        </p:nvSpPr>
        <p:spPr>
          <a:xfrm>
            <a:off x="457200" y="4754880"/>
            <a:ext cx="8229600" cy="274320"/>
          </a:xfrm>
          <a:prstGeom prst="rect">
            <a:avLst/>
          </a:prstGeom>
          <a:noFill/>
          <a:ln/>
        </p:spPr>
        <p:txBody>
          <a:bodyPr wrap="square" rtlCol="0" anchor="ctr"/>
          <a:lstStyle/>
          <a:p>
            <a:pPr algn="ctr" indent="0" marL="0">
              <a:buNone/>
            </a:pPr>
            <a:r>
              <a:rPr lang="en-US" sz="1100" i="1" dirty="0">
                <a:solidFill>
                  <a:srgbClr val="38BDF8"/>
                </a:solidFill>
                <a:latin typeface="Calibri" pitchFamily="34" charset="0"/>
                <a:ea typeface="Calibri" pitchFamily="34" charset="-122"/>
                <a:cs typeface="Calibri" pitchFamily="34" charset="-120"/>
              </a:rPr>
              <a:t>All three sources feed COMM_DEV.SANDBOX — no ETL, no data movement, no new infrastructure.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3E"/>
          </a:solidFill>
          <a:ln w="12700">
            <a:solidFill>
              <a:srgbClr val="0D1B3E"/>
            </a:solidFill>
            <a:prstDash val="solid"/>
          </a:ln>
        </p:spPr>
      </p:sp>
      <p:sp>
        <p:nvSpPr>
          <p:cNvPr id="3" name="Text 1"/>
          <p:cNvSpPr/>
          <p:nvPr/>
        </p:nvSpPr>
        <p:spPr>
          <a:xfrm>
            <a:off x="457200" y="45720"/>
            <a:ext cx="2743200" cy="365760"/>
          </a:xfrm>
          <a:prstGeom prst="rect">
            <a:avLst/>
          </a:prstGeom>
          <a:noFill/>
          <a:ln/>
        </p:spPr>
        <p:txBody>
          <a:bodyPr wrap="square"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SCENARIO 1</a:t>
            </a:r>
            <a:endParaRPr lang="en-US" sz="1100" dirty="0"/>
          </a:p>
        </p:txBody>
      </p:sp>
      <p:sp>
        <p:nvSpPr>
          <p:cNvPr id="4" name="Text 2"/>
          <p:cNvSpPr/>
          <p:nvPr/>
        </p:nvSpPr>
        <p:spPr>
          <a:xfrm>
            <a:off x="457200" y="411480"/>
            <a:ext cx="8229600" cy="5029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Metadata-Driven Smart Insights</a:t>
            </a:r>
            <a:endParaRPr lang="en-US" sz="2800" dirty="0"/>
          </a:p>
        </p:txBody>
      </p:sp>
      <p:sp>
        <p:nvSpPr>
          <p:cNvPr id="5" name="Shape 3"/>
          <p:cNvSpPr/>
          <p:nvPr/>
        </p:nvSpPr>
        <p:spPr>
          <a:xfrm>
            <a:off x="365760" y="1143000"/>
            <a:ext cx="3931920" cy="1463040"/>
          </a:xfrm>
          <a:prstGeom prst="roundRect">
            <a:avLst>
              <a:gd name="adj" fmla="val 6250"/>
            </a:avLst>
          </a:prstGeom>
          <a:solidFill>
            <a:srgbClr val="FFF7ED"/>
          </a:solidFill>
          <a:ln/>
          <a:effectLst>
            <a:outerShdw sx="100000" sy="100000" kx="0" ky="0" algn="bl" rotWithShape="0" blurRad="101600" dist="38100" dir="2700000">
              <a:srgbClr val="000000">
                <a:alpha val="12000"/>
              </a:srgbClr>
            </a:outerShdw>
          </a:effectLst>
        </p:spPr>
      </p:sp>
      <p:sp>
        <p:nvSpPr>
          <p:cNvPr id="6" name="Text 4"/>
          <p:cNvSpPr/>
          <p:nvPr/>
        </p:nvSpPr>
        <p:spPr>
          <a:xfrm>
            <a:off x="502920" y="1234440"/>
            <a:ext cx="3657600" cy="36576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  The Problem</a:t>
            </a:r>
            <a:endParaRPr lang="en-US" sz="1400" dirty="0"/>
          </a:p>
        </p:txBody>
      </p:sp>
      <p:sp>
        <p:nvSpPr>
          <p:cNvPr id="7" name="Text 5"/>
          <p:cNvSpPr/>
          <p:nvPr/>
        </p:nvSpPr>
        <p:spPr>
          <a:xfrm>
            <a:off x="502920" y="1627632"/>
            <a:ext cx="3611880" cy="91440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Metadata piles up — table descriptions, columns, refresh times, lineage. But it just sits there. People still ping each other asking 'what does this field mean?', 'is this table still live?', 'where does this data come from?'. We waste time hunting.</a:t>
            </a:r>
            <a:endParaRPr lang="en-US" sz="1050" dirty="0"/>
          </a:p>
        </p:txBody>
      </p:sp>
      <p:sp>
        <p:nvSpPr>
          <p:cNvPr id="8" name="Shape 6"/>
          <p:cNvSpPr/>
          <p:nvPr/>
        </p:nvSpPr>
        <p:spPr>
          <a:xfrm>
            <a:off x="4663440" y="1143000"/>
            <a:ext cx="4114800" cy="1463040"/>
          </a:xfrm>
          <a:prstGeom prst="roundRect">
            <a:avLst>
              <a:gd name="adj" fmla="val 6250"/>
            </a:avLst>
          </a:prstGeom>
          <a:solidFill>
            <a:srgbClr val="ECFDF5"/>
          </a:solidFill>
          <a:ln/>
          <a:effectLst>
            <a:outerShdw sx="100000" sy="100000" kx="0" ky="0" algn="bl" rotWithShape="0" blurRad="101600" dist="38100" dir="2700000">
              <a:srgbClr val="000000">
                <a:alpha val="12000"/>
              </a:srgbClr>
            </a:outerShdw>
          </a:effectLst>
        </p:spPr>
      </p:sp>
      <p:sp>
        <p:nvSpPr>
          <p:cNvPr id="9" name="Text 7"/>
          <p:cNvSpPr/>
          <p:nvPr/>
        </p:nvSpPr>
        <p:spPr>
          <a:xfrm>
            <a:off x="4800600" y="1234440"/>
            <a:ext cx="3657600" cy="365760"/>
          </a:xfrm>
          <a:prstGeom prst="rect">
            <a:avLst/>
          </a:prstGeom>
          <a:noFill/>
          <a:ln/>
        </p:spPr>
        <p:txBody>
          <a:bodyPr wrap="square" lIns="0" tIns="0" rIns="0" bIns="0"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  The Idea</a:t>
            </a:r>
            <a:endParaRPr lang="en-US" sz="1400" dirty="0"/>
          </a:p>
        </p:txBody>
      </p:sp>
      <p:sp>
        <p:nvSpPr>
          <p:cNvPr id="10" name="Text 8"/>
          <p:cNvSpPr/>
          <p:nvPr/>
        </p:nvSpPr>
        <p:spPr>
          <a:xfrm>
            <a:off x="4800600" y="1627632"/>
            <a:ext cx="3840480" cy="91440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Cortex AI reads and reasons over our existing metadata. Instead of static documentation, you ask a question in plain English and get a contextual answer grounded in our actual catalog.</a:t>
            </a:r>
            <a:endParaRPr lang="en-US" sz="1050" dirty="0"/>
          </a:p>
        </p:txBody>
      </p:sp>
      <p:sp>
        <p:nvSpPr>
          <p:cNvPr id="11" name="Text 9"/>
          <p:cNvSpPr/>
          <p:nvPr/>
        </p:nvSpPr>
        <p:spPr>
          <a:xfrm>
            <a:off x="365760" y="2788920"/>
            <a:ext cx="8412480" cy="320040"/>
          </a:xfrm>
          <a:prstGeom prst="rect">
            <a:avLst/>
          </a:prstGeom>
          <a:noFill/>
          <a:ln/>
        </p:spPr>
        <p:txBody>
          <a:bodyPr wrap="square" rtlCol="0" anchor="ctr"/>
          <a:lstStyle/>
          <a:p>
            <a:pPr indent="0" marL="0">
              <a:buNone/>
            </a:pPr>
            <a:r>
              <a:rPr lang="en-US" sz="1200" b="1" dirty="0">
                <a:solidFill>
                  <a:srgbClr val="0D1B3E"/>
                </a:solidFill>
                <a:latin typeface="Calibri" pitchFamily="34" charset="0"/>
                <a:ea typeface="Calibri" pitchFamily="34" charset="-122"/>
                <a:cs typeface="Calibri" pitchFamily="34" charset="-120"/>
              </a:rPr>
              <a:t>AI COMPLETE Layer — Plain-English Questions → Contextual Answers</a:t>
            </a:r>
            <a:endParaRPr lang="en-US" sz="1200" dirty="0"/>
          </a:p>
        </p:txBody>
      </p:sp>
      <p:sp>
        <p:nvSpPr>
          <p:cNvPr id="12" name="Shape 10"/>
          <p:cNvSpPr/>
          <p:nvPr/>
        </p:nvSpPr>
        <p:spPr>
          <a:xfrm>
            <a:off x="365760" y="3154680"/>
            <a:ext cx="2011680" cy="1783080"/>
          </a:xfrm>
          <a:prstGeom prst="roundRect">
            <a:avLst>
              <a:gd name="adj" fmla="val 5128"/>
            </a:avLst>
          </a:prstGeom>
          <a:solidFill>
            <a:srgbClr val="FFFFFF"/>
          </a:solidFill>
          <a:ln/>
          <a:effectLst>
            <a:outerShdw sx="100000" sy="100000" kx="0" ky="0" algn="bl" rotWithShape="0" blurRad="101600" dist="38100" dir="2700000">
              <a:srgbClr val="000000">
                <a:alpha val="12000"/>
              </a:srgbClr>
            </a:outerShdw>
          </a:effectLst>
        </p:spPr>
      </p:sp>
      <p:sp>
        <p:nvSpPr>
          <p:cNvPr id="13" name="Shape 11"/>
          <p:cNvSpPr/>
          <p:nvPr/>
        </p:nvSpPr>
        <p:spPr>
          <a:xfrm>
            <a:off x="1005840" y="3246120"/>
            <a:ext cx="731520" cy="731520"/>
          </a:xfrm>
          <a:prstGeom prst="ellipse">
            <a:avLst/>
          </a:prstGeom>
          <a:solidFill>
            <a:srgbClr val="E0F4FA"/>
          </a:solidFill>
          <a:ln w="12700">
            <a:solidFill>
              <a:srgbClr val="0891B2"/>
            </a:solidFill>
            <a:prstDash val="solid"/>
          </a:ln>
        </p:spPr>
      </p:sp>
      <p:sp>
        <p:nvSpPr>
          <p:cNvPr id="14" name="Text 12"/>
          <p:cNvSpPr/>
          <p:nvPr/>
        </p:nvSpPr>
        <p:spPr>
          <a:xfrm>
            <a:off x="1005840" y="3246120"/>
            <a:ext cx="731520" cy="73152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5" name="Text 13"/>
          <p:cNvSpPr/>
          <p:nvPr/>
        </p:nvSpPr>
        <p:spPr>
          <a:xfrm>
            <a:off x="457200" y="4041648"/>
            <a:ext cx="1828800" cy="457200"/>
          </a:xfrm>
          <a:prstGeom prst="rect">
            <a:avLst/>
          </a:prstGeom>
          <a:noFill/>
          <a:ln/>
        </p:spPr>
        <p:txBody>
          <a:bodyPr wrap="square" rtlCol="0" anchor="ctr"/>
          <a:lstStyle/>
          <a:p>
            <a:pPr algn="ctr" indent="0" marL="0">
              <a:buNone/>
            </a:pPr>
            <a:r>
              <a:rPr lang="en-US" sz="900" b="1" dirty="0">
                <a:solidFill>
                  <a:srgbClr val="0891B2"/>
                </a:solidFill>
                <a:latin typeface="Calibri" pitchFamily="34" charset="0"/>
                <a:ea typeface="Calibri" pitchFamily="34" charset="-122"/>
                <a:cs typeface="Calibri" pitchFamily="34" charset="-120"/>
              </a:rPr>
              <a:t>FN_EXPLAIN_FIELD</a:t>
            </a:r>
            <a:endParaRPr lang="en-US" sz="900" dirty="0"/>
          </a:p>
        </p:txBody>
      </p:sp>
      <p:sp>
        <p:nvSpPr>
          <p:cNvPr id="16" name="Text 14"/>
          <p:cNvSpPr/>
          <p:nvPr/>
        </p:nvSpPr>
        <p:spPr>
          <a:xfrm>
            <a:off x="457200" y="4480560"/>
            <a:ext cx="1828800" cy="384048"/>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"What does this</a:t>
            </a:r>
            <a:endParaRPr lang="en-US" sz="900" dirty="0"/>
          </a:p>
          <a:p>
            <a:pPr algn="ctr" indent="0" marL="0">
              <a:buNone/>
            </a:pPr>
            <a:r>
              <a:rPr lang="en-US" sz="900" dirty="0">
                <a:solidFill>
                  <a:srgbClr val="475569"/>
                </a:solidFill>
                <a:latin typeface="Calibri" pitchFamily="34" charset="0"/>
                <a:ea typeface="Calibri" pitchFamily="34" charset="-122"/>
                <a:cs typeface="Calibri" pitchFamily="34" charset="-120"/>
              </a:rPr>
              <a:t>field mean?"</a:t>
            </a:r>
            <a:endParaRPr lang="en-US" sz="900" dirty="0"/>
          </a:p>
        </p:txBody>
      </p:sp>
      <p:sp>
        <p:nvSpPr>
          <p:cNvPr id="17" name="Shape 15"/>
          <p:cNvSpPr/>
          <p:nvPr/>
        </p:nvSpPr>
        <p:spPr>
          <a:xfrm>
            <a:off x="2542032" y="3154680"/>
            <a:ext cx="2011680" cy="1783080"/>
          </a:xfrm>
          <a:prstGeom prst="roundRect">
            <a:avLst>
              <a:gd name="adj" fmla="val 5128"/>
            </a:avLst>
          </a:prstGeom>
          <a:solidFill>
            <a:srgbClr val="FFFFFF"/>
          </a:solidFill>
          <a:ln/>
          <a:effectLst>
            <a:outerShdw sx="100000" sy="100000" kx="0" ky="0" algn="bl" rotWithShape="0" blurRad="101600" dist="38100" dir="2700000">
              <a:srgbClr val="000000">
                <a:alpha val="12000"/>
              </a:srgbClr>
            </a:outerShdw>
          </a:effectLst>
        </p:spPr>
      </p:sp>
      <p:sp>
        <p:nvSpPr>
          <p:cNvPr id="18" name="Shape 16"/>
          <p:cNvSpPr/>
          <p:nvPr/>
        </p:nvSpPr>
        <p:spPr>
          <a:xfrm>
            <a:off x="3182112" y="3246120"/>
            <a:ext cx="731520" cy="731520"/>
          </a:xfrm>
          <a:prstGeom prst="ellipse">
            <a:avLst/>
          </a:prstGeom>
          <a:solidFill>
            <a:srgbClr val="E0F4FA"/>
          </a:solidFill>
          <a:ln w="12700">
            <a:solidFill>
              <a:srgbClr val="0891B2"/>
            </a:solidFill>
            <a:prstDash val="solid"/>
          </a:ln>
        </p:spPr>
      </p:sp>
      <p:sp>
        <p:nvSpPr>
          <p:cNvPr id="19" name="Text 17"/>
          <p:cNvSpPr/>
          <p:nvPr/>
        </p:nvSpPr>
        <p:spPr>
          <a:xfrm>
            <a:off x="3182112" y="3246120"/>
            <a:ext cx="731520" cy="73152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0" name="Text 18"/>
          <p:cNvSpPr/>
          <p:nvPr/>
        </p:nvSpPr>
        <p:spPr>
          <a:xfrm>
            <a:off x="2633472" y="4041648"/>
            <a:ext cx="1828800" cy="457200"/>
          </a:xfrm>
          <a:prstGeom prst="rect">
            <a:avLst/>
          </a:prstGeom>
          <a:noFill/>
          <a:ln/>
        </p:spPr>
        <p:txBody>
          <a:bodyPr wrap="square" rtlCol="0" anchor="ctr"/>
          <a:lstStyle/>
          <a:p>
            <a:pPr algn="ctr" indent="0" marL="0">
              <a:buNone/>
            </a:pPr>
            <a:r>
              <a:rPr lang="en-US" sz="900" b="1" dirty="0">
                <a:solidFill>
                  <a:srgbClr val="0891B2"/>
                </a:solidFill>
                <a:latin typeface="Calibri" pitchFamily="34" charset="0"/>
                <a:ea typeface="Calibri" pitchFamily="34" charset="-122"/>
                <a:cs typeface="Calibri" pitchFamily="34" charset="-120"/>
              </a:rPr>
              <a:t>FN_EXPLAIN_UPSTREAM</a:t>
            </a:r>
            <a:endParaRPr lang="en-US" sz="900" dirty="0"/>
          </a:p>
        </p:txBody>
      </p:sp>
      <p:sp>
        <p:nvSpPr>
          <p:cNvPr id="21" name="Text 19"/>
          <p:cNvSpPr/>
          <p:nvPr/>
        </p:nvSpPr>
        <p:spPr>
          <a:xfrm>
            <a:off x="2633472" y="4480560"/>
            <a:ext cx="1828800" cy="384048"/>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"Where does this</a:t>
            </a:r>
            <a:endParaRPr lang="en-US" sz="900" dirty="0"/>
          </a:p>
          <a:p>
            <a:pPr algn="ctr" indent="0" marL="0">
              <a:buNone/>
            </a:pPr>
            <a:r>
              <a:rPr lang="en-US" sz="900" dirty="0">
                <a:solidFill>
                  <a:srgbClr val="475569"/>
                </a:solidFill>
                <a:latin typeface="Calibri" pitchFamily="34" charset="0"/>
                <a:ea typeface="Calibri" pitchFamily="34" charset="-122"/>
                <a:cs typeface="Calibri" pitchFamily="34" charset="-120"/>
              </a:rPr>
              <a:t>table get its data?"</a:t>
            </a:r>
            <a:endParaRPr lang="en-US" sz="900" dirty="0"/>
          </a:p>
        </p:txBody>
      </p:sp>
      <p:sp>
        <p:nvSpPr>
          <p:cNvPr id="22" name="Shape 20"/>
          <p:cNvSpPr/>
          <p:nvPr/>
        </p:nvSpPr>
        <p:spPr>
          <a:xfrm>
            <a:off x="4718304" y="3154680"/>
            <a:ext cx="2011680" cy="1783080"/>
          </a:xfrm>
          <a:prstGeom prst="roundRect">
            <a:avLst>
              <a:gd name="adj" fmla="val 5128"/>
            </a:avLst>
          </a:prstGeom>
          <a:solidFill>
            <a:srgbClr val="FFFFFF"/>
          </a:solidFill>
          <a:ln/>
          <a:effectLst>
            <a:outerShdw sx="100000" sy="100000" kx="0" ky="0" algn="bl" rotWithShape="0" blurRad="101600" dist="38100" dir="2700000">
              <a:srgbClr val="000000">
                <a:alpha val="12000"/>
              </a:srgbClr>
            </a:outerShdw>
          </a:effectLst>
        </p:spPr>
      </p:sp>
      <p:sp>
        <p:nvSpPr>
          <p:cNvPr id="23" name="Shape 21"/>
          <p:cNvSpPr/>
          <p:nvPr/>
        </p:nvSpPr>
        <p:spPr>
          <a:xfrm>
            <a:off x="5358384" y="3246120"/>
            <a:ext cx="731520" cy="731520"/>
          </a:xfrm>
          <a:prstGeom prst="ellipse">
            <a:avLst/>
          </a:prstGeom>
          <a:solidFill>
            <a:srgbClr val="E0F4FA"/>
          </a:solidFill>
          <a:ln w="12700">
            <a:solidFill>
              <a:srgbClr val="0891B2"/>
            </a:solidFill>
            <a:prstDash val="solid"/>
          </a:ln>
        </p:spPr>
      </p:sp>
      <p:sp>
        <p:nvSpPr>
          <p:cNvPr id="24" name="Text 22"/>
          <p:cNvSpPr/>
          <p:nvPr/>
        </p:nvSpPr>
        <p:spPr>
          <a:xfrm>
            <a:off x="5358384" y="3246120"/>
            <a:ext cx="731520" cy="73152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5" name="Text 23"/>
          <p:cNvSpPr/>
          <p:nvPr/>
        </p:nvSpPr>
        <p:spPr>
          <a:xfrm>
            <a:off x="4809744" y="4041648"/>
            <a:ext cx="1828800" cy="457200"/>
          </a:xfrm>
          <a:prstGeom prst="rect">
            <a:avLst/>
          </a:prstGeom>
          <a:noFill/>
          <a:ln/>
        </p:spPr>
        <p:txBody>
          <a:bodyPr wrap="square" rtlCol="0" anchor="ctr"/>
          <a:lstStyle/>
          <a:p>
            <a:pPr algn="ctr" indent="0" marL="0">
              <a:buNone/>
            </a:pPr>
            <a:r>
              <a:rPr lang="en-US" sz="900" b="1" dirty="0">
                <a:solidFill>
                  <a:srgbClr val="0891B2"/>
                </a:solidFill>
                <a:latin typeface="Calibri" pitchFamily="34" charset="0"/>
                <a:ea typeface="Calibri" pitchFamily="34" charset="-122"/>
                <a:cs typeface="Calibri" pitchFamily="34" charset="-120"/>
              </a:rPr>
              <a:t>FN_ASK_METADATA</a:t>
            </a:r>
            <a:endParaRPr lang="en-US" sz="900" dirty="0"/>
          </a:p>
        </p:txBody>
      </p:sp>
      <p:sp>
        <p:nvSpPr>
          <p:cNvPr id="26" name="Text 24"/>
          <p:cNvSpPr/>
          <p:nvPr/>
        </p:nvSpPr>
        <p:spPr>
          <a:xfrm>
            <a:off x="4809744" y="4480560"/>
            <a:ext cx="1828800" cy="384048"/>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"Which stale tables</a:t>
            </a:r>
            <a:endParaRPr lang="en-US" sz="900" dirty="0"/>
          </a:p>
          <a:p>
            <a:pPr algn="ctr" indent="0" marL="0">
              <a:buNone/>
            </a:pPr>
            <a:r>
              <a:rPr lang="en-US" sz="900" dirty="0">
                <a:solidFill>
                  <a:srgbClr val="475569"/>
                </a:solidFill>
                <a:latin typeface="Calibri" pitchFamily="34" charset="0"/>
                <a:ea typeface="Calibri" pitchFamily="34" charset="-122"/>
                <a:cs typeface="Calibri" pitchFamily="34" charset="-120"/>
              </a:rPr>
              <a:t>actually matter?"</a:t>
            </a:r>
            <a:endParaRPr lang="en-US" sz="900" dirty="0"/>
          </a:p>
        </p:txBody>
      </p:sp>
      <p:sp>
        <p:nvSpPr>
          <p:cNvPr id="27" name="Shape 25"/>
          <p:cNvSpPr/>
          <p:nvPr/>
        </p:nvSpPr>
        <p:spPr>
          <a:xfrm>
            <a:off x="6894576" y="3154680"/>
            <a:ext cx="2011680" cy="1783080"/>
          </a:xfrm>
          <a:prstGeom prst="roundRect">
            <a:avLst>
              <a:gd name="adj" fmla="val 5128"/>
            </a:avLst>
          </a:prstGeom>
          <a:solidFill>
            <a:srgbClr val="FFFFFF"/>
          </a:solidFill>
          <a:ln/>
          <a:effectLst>
            <a:outerShdw sx="100000" sy="100000" kx="0" ky="0" algn="bl" rotWithShape="0" blurRad="101600" dist="38100" dir="2700000">
              <a:srgbClr val="000000">
                <a:alpha val="12000"/>
              </a:srgbClr>
            </a:outerShdw>
          </a:effectLst>
        </p:spPr>
      </p:sp>
      <p:sp>
        <p:nvSpPr>
          <p:cNvPr id="28" name="Shape 26"/>
          <p:cNvSpPr/>
          <p:nvPr/>
        </p:nvSpPr>
        <p:spPr>
          <a:xfrm>
            <a:off x="7534656" y="3246120"/>
            <a:ext cx="731520" cy="731520"/>
          </a:xfrm>
          <a:prstGeom prst="ellipse">
            <a:avLst/>
          </a:prstGeom>
          <a:solidFill>
            <a:srgbClr val="E0F4FA"/>
          </a:solidFill>
          <a:ln w="12700">
            <a:solidFill>
              <a:srgbClr val="0891B2"/>
            </a:solidFill>
            <a:prstDash val="solid"/>
          </a:ln>
        </p:spPr>
      </p:sp>
      <p:sp>
        <p:nvSpPr>
          <p:cNvPr id="29" name="Text 27"/>
          <p:cNvSpPr/>
          <p:nvPr/>
        </p:nvSpPr>
        <p:spPr>
          <a:xfrm>
            <a:off x="7534656" y="3246120"/>
            <a:ext cx="731520" cy="73152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0" name="Text 28"/>
          <p:cNvSpPr/>
          <p:nvPr/>
        </p:nvSpPr>
        <p:spPr>
          <a:xfrm>
            <a:off x="6986016" y="4041648"/>
            <a:ext cx="1828800" cy="457200"/>
          </a:xfrm>
          <a:prstGeom prst="rect">
            <a:avLst/>
          </a:prstGeom>
          <a:noFill/>
          <a:ln/>
        </p:spPr>
        <p:txBody>
          <a:bodyPr wrap="square" rtlCol="0" anchor="ctr"/>
          <a:lstStyle/>
          <a:p>
            <a:pPr algn="ctr" indent="0" marL="0">
              <a:buNone/>
            </a:pPr>
            <a:r>
              <a:rPr lang="en-US" sz="900" b="1" dirty="0">
                <a:solidFill>
                  <a:srgbClr val="0891B2"/>
                </a:solidFill>
                <a:latin typeface="Calibri" pitchFamily="34" charset="0"/>
                <a:ea typeface="Calibri" pitchFamily="34" charset="-122"/>
                <a:cs typeface="Calibri" pitchFamily="34" charset="-120"/>
              </a:rPr>
              <a:t>POC_AI_STALE</a:t>
            </a:r>
            <a:endParaRPr lang="en-US" sz="900" dirty="0"/>
          </a:p>
          <a:p>
            <a:pPr algn="ctr" indent="0" marL="0">
              <a:buNone/>
            </a:pPr>
            <a:r>
              <a:rPr lang="en-US" sz="900" b="1" dirty="0">
                <a:solidFill>
                  <a:srgbClr val="0891B2"/>
                </a:solidFill>
                <a:latin typeface="Calibri" pitchFamily="34" charset="0"/>
                <a:ea typeface="Calibri" pitchFamily="34" charset="-122"/>
                <a:cs typeface="Calibri" pitchFamily="34" charset="-120"/>
              </a:rPr>
              <a:t>TABLE_REPORT</a:t>
            </a:r>
            <a:endParaRPr lang="en-US" sz="900" dirty="0"/>
          </a:p>
        </p:txBody>
      </p:sp>
      <p:sp>
        <p:nvSpPr>
          <p:cNvPr id="31" name="Text 29"/>
          <p:cNvSpPr/>
          <p:nvPr/>
        </p:nvSpPr>
        <p:spPr>
          <a:xfrm>
            <a:off x="6986016" y="4480560"/>
            <a:ext cx="1828800" cy="384048"/>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Ranked stale tables</a:t>
            </a:r>
            <a:endParaRPr lang="en-US" sz="900" dirty="0"/>
          </a:p>
          <a:p>
            <a:pPr algn="ctr" indent="0" marL="0">
              <a:buNone/>
            </a:pPr>
            <a:r>
              <a:rPr lang="en-US" sz="900" dirty="0">
                <a:solidFill>
                  <a:srgbClr val="475569"/>
                </a:solidFill>
                <a:latin typeface="Calibri" pitchFamily="34" charset="0"/>
                <a:ea typeface="Calibri" pitchFamily="34" charset="-122"/>
                <a:cs typeface="Calibri" pitchFamily="34" charset="-120"/>
              </a:rPr>
              <a:t>+ risk assessment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7C3AED"/>
          </a:solidFill>
          <a:ln w="12700">
            <a:solidFill>
              <a:srgbClr val="7C3AED"/>
            </a:solidFill>
            <a:prstDash val="solid"/>
          </a:ln>
        </p:spPr>
      </p:sp>
      <p:sp>
        <p:nvSpPr>
          <p:cNvPr id="3" name="Text 1"/>
          <p:cNvSpPr/>
          <p:nvPr/>
        </p:nvSpPr>
        <p:spPr>
          <a:xfrm>
            <a:off x="457200" y="45720"/>
            <a:ext cx="2743200" cy="347472"/>
          </a:xfrm>
          <a:prstGeom prst="rect">
            <a:avLst/>
          </a:prstGeom>
          <a:noFill/>
          <a:ln/>
        </p:spPr>
        <p:txBody>
          <a:bodyPr wrap="square" rtlCol="0" anchor="ctr"/>
          <a:lstStyle/>
          <a:p>
            <a:pPr indent="0" marL="0">
              <a:buNone/>
            </a:pPr>
            <a:r>
              <a:rPr lang="en-US" sz="1100" b="1" spc="300" kern="0" dirty="0">
                <a:solidFill>
                  <a:srgbClr val="DDD6FE"/>
                </a:solidFill>
                <a:latin typeface="Calibri" pitchFamily="34" charset="0"/>
                <a:ea typeface="Calibri" pitchFamily="34" charset="-122"/>
                <a:cs typeface="Calibri" pitchFamily="34" charset="-120"/>
              </a:rPr>
              <a:t>SCENARIO 2</a:t>
            </a:r>
            <a:endParaRPr lang="en-US" sz="1100" dirty="0"/>
          </a:p>
        </p:txBody>
      </p:sp>
      <p:sp>
        <p:nvSpPr>
          <p:cNvPr id="4" name="Text 2"/>
          <p:cNvSpPr/>
          <p:nvPr/>
        </p:nvSpPr>
        <p:spPr>
          <a:xfrm>
            <a:off x="457200" y="393192"/>
            <a:ext cx="8229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Anomaly Detection — Beyond Rule-Based DQ</a:t>
            </a:r>
            <a:endParaRPr lang="en-US" sz="2600" dirty="0"/>
          </a:p>
        </p:txBody>
      </p:sp>
      <p:sp>
        <p:nvSpPr>
          <p:cNvPr id="5" name="Shape 3"/>
          <p:cNvSpPr/>
          <p:nvPr/>
        </p:nvSpPr>
        <p:spPr>
          <a:xfrm>
            <a:off x="365760" y="1097280"/>
            <a:ext cx="3931920" cy="1417320"/>
          </a:xfrm>
          <a:prstGeom prst="roundRect">
            <a:avLst>
              <a:gd name="adj" fmla="val 6452"/>
            </a:avLst>
          </a:prstGeom>
          <a:solidFill>
            <a:srgbClr val="FFF7ED"/>
          </a:solidFill>
          <a:ln/>
          <a:effectLst>
            <a:outerShdw sx="100000" sy="100000" kx="0" ky="0" algn="bl" rotWithShape="0" blurRad="101600" dist="38100" dir="2700000">
              <a:srgbClr val="000000">
                <a:alpha val="12000"/>
              </a:srgbClr>
            </a:outerShdw>
          </a:effectLst>
        </p:spPr>
      </p:sp>
      <p:sp>
        <p:nvSpPr>
          <p:cNvPr id="6" name="Text 4"/>
          <p:cNvSpPr/>
          <p:nvPr/>
        </p:nvSpPr>
        <p:spPr>
          <a:xfrm>
            <a:off x="502920" y="1188720"/>
            <a:ext cx="3657600" cy="347472"/>
          </a:xfrm>
          <a:prstGeom prst="rect">
            <a:avLst/>
          </a:prstGeom>
          <a:noFill/>
          <a:ln/>
        </p:spPr>
        <p:txBody>
          <a:bodyPr wrap="square" lIns="0" tIns="0" rIns="0" bIns="0" rtlCol="0" anchor="ctr"/>
          <a:lstStyle/>
          <a:p>
            <a:pPr indent="0" marL="0">
              <a:buNone/>
            </a:pPr>
            <a:r>
              <a:rPr lang="en-US" sz="1300" b="1" dirty="0">
                <a:solidFill>
                  <a:srgbClr val="D97706"/>
                </a:solidFill>
                <a:latin typeface="Calibri" pitchFamily="34" charset="0"/>
                <a:ea typeface="Calibri" pitchFamily="34" charset="-122"/>
                <a:cs typeface="Calibri" pitchFamily="34" charset="-120"/>
              </a:rPr>
              <a:t>⚠  The Problem</a:t>
            </a:r>
            <a:endParaRPr lang="en-US" sz="1300" dirty="0"/>
          </a:p>
        </p:txBody>
      </p:sp>
      <p:sp>
        <p:nvSpPr>
          <p:cNvPr id="7" name="Text 5"/>
          <p:cNvSpPr/>
          <p:nvPr/>
        </p:nvSpPr>
        <p:spPr>
          <a:xfrm>
            <a:off x="502920" y="1572768"/>
            <a:ext cx="3657600" cy="91440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Traditional DQ checks only catch what we anticipated — hardcoded thresholds, null checks. They miss drift, subtle shifts, and multi-column anomalies. If a value suddenly goes 10x, or a region quietly stops sending data, rule-based systems don't catch it.</a:t>
            </a:r>
            <a:endParaRPr lang="en-US" sz="1050" dirty="0"/>
          </a:p>
        </p:txBody>
      </p:sp>
      <p:sp>
        <p:nvSpPr>
          <p:cNvPr id="8" name="Shape 6"/>
          <p:cNvSpPr/>
          <p:nvPr/>
        </p:nvSpPr>
        <p:spPr>
          <a:xfrm>
            <a:off x="4663440" y="1097280"/>
            <a:ext cx="4114800" cy="1417320"/>
          </a:xfrm>
          <a:prstGeom prst="roundRect">
            <a:avLst>
              <a:gd name="adj" fmla="val 6452"/>
            </a:avLst>
          </a:prstGeom>
          <a:solidFill>
            <a:srgbClr val="F3F0FF"/>
          </a:solidFill>
          <a:ln/>
          <a:effectLst>
            <a:outerShdw sx="100000" sy="100000" kx="0" ky="0" algn="bl" rotWithShape="0" blurRad="101600" dist="38100" dir="2700000">
              <a:srgbClr val="000000">
                <a:alpha val="12000"/>
              </a:srgbClr>
            </a:outerShdw>
          </a:effectLst>
        </p:spPr>
      </p:sp>
      <p:sp>
        <p:nvSpPr>
          <p:cNvPr id="9" name="Text 7"/>
          <p:cNvSpPr/>
          <p:nvPr/>
        </p:nvSpPr>
        <p:spPr>
          <a:xfrm>
            <a:off x="4800600" y="1188720"/>
            <a:ext cx="3657600" cy="347472"/>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  The Idea</a:t>
            </a:r>
            <a:endParaRPr lang="en-US" sz="1300" dirty="0"/>
          </a:p>
        </p:txBody>
      </p:sp>
      <p:sp>
        <p:nvSpPr>
          <p:cNvPr id="10" name="Text 8"/>
          <p:cNvSpPr/>
          <p:nvPr/>
        </p:nvSpPr>
        <p:spPr>
          <a:xfrm>
            <a:off x="4800600" y="1572768"/>
            <a:ext cx="3840480" cy="91440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Let the system learn what normal looks like per metric, then flag anything that deviates — without us hardcoding a threshold. Each flagged item gets an AI-written explanation of what happened and the likely cause.</a:t>
            </a:r>
            <a:endParaRPr lang="en-US" sz="1050" dirty="0"/>
          </a:p>
        </p:txBody>
      </p:sp>
      <p:sp>
        <p:nvSpPr>
          <p:cNvPr id="11" name="Text 9"/>
          <p:cNvSpPr/>
          <p:nvPr/>
        </p:nvSpPr>
        <p:spPr>
          <a:xfrm>
            <a:off x="365760" y="2670048"/>
            <a:ext cx="4572000" cy="320040"/>
          </a:xfrm>
          <a:prstGeom prst="rect">
            <a:avLst/>
          </a:prstGeom>
          <a:noFill/>
          <a:ln/>
        </p:spPr>
        <p:txBody>
          <a:bodyPr wrap="square"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Anomaly Types Detected</a:t>
            </a:r>
            <a:endParaRPr lang="en-US" sz="1300" dirty="0"/>
          </a:p>
        </p:txBody>
      </p:sp>
      <p:sp>
        <p:nvSpPr>
          <p:cNvPr id="12" name="Shape 10"/>
          <p:cNvSpPr/>
          <p:nvPr/>
        </p:nvSpPr>
        <p:spPr>
          <a:xfrm>
            <a:off x="365760" y="3063240"/>
            <a:ext cx="2651760" cy="822960"/>
          </a:xfrm>
          <a:prstGeom prst="roundRect">
            <a:avLst>
              <a:gd name="adj" fmla="val 8889"/>
            </a:avLst>
          </a:prstGeom>
          <a:solidFill>
            <a:srgbClr val="FFFFFF"/>
          </a:solidFill>
          <a:ln/>
          <a:effectLst>
            <a:outerShdw sx="100000" sy="100000" kx="0" ky="0" algn="bl" rotWithShape="0" blurRad="101600" dist="38100" dir="2700000">
              <a:srgbClr val="000000">
                <a:alpha val="12000"/>
              </a:srgbClr>
            </a:outerShdw>
          </a:effectLst>
        </p:spPr>
      </p:sp>
      <p:sp>
        <p:nvSpPr>
          <p:cNvPr id="13" name="Shape 11"/>
          <p:cNvSpPr/>
          <p:nvPr/>
        </p:nvSpPr>
        <p:spPr>
          <a:xfrm>
            <a:off x="457200" y="3200400"/>
            <a:ext cx="548640" cy="548640"/>
          </a:xfrm>
          <a:prstGeom prst="ellipse">
            <a:avLst/>
          </a:prstGeom>
          <a:solidFill>
            <a:srgbClr val="EF4444"/>
          </a:solidFill>
          <a:ln w="12700">
            <a:solidFill>
              <a:srgbClr val="EF4444"/>
            </a:solidFill>
            <a:prstDash val="solid"/>
          </a:ln>
        </p:spPr>
      </p:sp>
      <p:sp>
        <p:nvSpPr>
          <p:cNvPr id="14" name="Text 12"/>
          <p:cNvSpPr/>
          <p:nvPr/>
        </p:nvSpPr>
        <p:spPr>
          <a:xfrm>
            <a:off x="1078992" y="3108960"/>
            <a:ext cx="1874520" cy="320040"/>
          </a:xfrm>
          <a:prstGeom prst="rect">
            <a:avLst/>
          </a:prstGeom>
          <a:noFill/>
          <a:ln/>
        </p:spPr>
        <p:txBody>
          <a:bodyPr wrap="square" lIns="0" tIns="0" rIns="0" bIns="0" rtlCol="0" anchor="ctr"/>
          <a:lstStyle/>
          <a:p>
            <a:pPr indent="0" marL="0">
              <a:buNone/>
            </a:pPr>
            <a:r>
              <a:rPr lang="en-US" sz="1000" b="1" dirty="0">
                <a:solidFill>
                  <a:srgbClr val="0D1B3E"/>
                </a:solidFill>
                <a:latin typeface="Calibri" pitchFamily="34" charset="0"/>
                <a:ea typeface="Calibri" pitchFamily="34" charset="-122"/>
                <a:cs typeface="Calibri" pitchFamily="34" charset="-120"/>
              </a:rPr>
              <a:t>VALUE_SPIKE</a:t>
            </a:r>
            <a:endParaRPr lang="en-US" sz="1000" dirty="0"/>
          </a:p>
        </p:txBody>
      </p:sp>
      <p:sp>
        <p:nvSpPr>
          <p:cNvPr id="15" name="Text 13"/>
          <p:cNvSpPr/>
          <p:nvPr/>
        </p:nvSpPr>
        <p:spPr>
          <a:xfrm>
            <a:off x="1078992" y="3447288"/>
            <a:ext cx="1874520" cy="38404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Unit price 10x</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normal</a:t>
            </a:r>
            <a:endParaRPr lang="en-US" sz="900" dirty="0"/>
          </a:p>
        </p:txBody>
      </p:sp>
      <p:sp>
        <p:nvSpPr>
          <p:cNvPr id="16" name="Shape 14"/>
          <p:cNvSpPr/>
          <p:nvPr/>
        </p:nvSpPr>
        <p:spPr>
          <a:xfrm>
            <a:off x="3200400" y="3063240"/>
            <a:ext cx="2651760" cy="822960"/>
          </a:xfrm>
          <a:prstGeom prst="roundRect">
            <a:avLst>
              <a:gd name="adj" fmla="val 8889"/>
            </a:avLst>
          </a:prstGeom>
          <a:solidFill>
            <a:srgbClr val="FFFFFF"/>
          </a:solidFill>
          <a:ln/>
          <a:effectLst>
            <a:outerShdw sx="100000" sy="100000" kx="0" ky="0" algn="bl" rotWithShape="0" blurRad="101600" dist="38100" dir="2700000">
              <a:srgbClr val="000000">
                <a:alpha val="12000"/>
              </a:srgbClr>
            </a:outerShdw>
          </a:effectLst>
        </p:spPr>
      </p:sp>
      <p:sp>
        <p:nvSpPr>
          <p:cNvPr id="17" name="Shape 15"/>
          <p:cNvSpPr/>
          <p:nvPr/>
        </p:nvSpPr>
        <p:spPr>
          <a:xfrm>
            <a:off x="3291840" y="3200400"/>
            <a:ext cx="548640" cy="548640"/>
          </a:xfrm>
          <a:prstGeom prst="ellipse">
            <a:avLst/>
          </a:prstGeom>
          <a:solidFill>
            <a:srgbClr val="F97316"/>
          </a:solidFill>
          <a:ln w="12700">
            <a:solidFill>
              <a:srgbClr val="F97316"/>
            </a:solidFill>
            <a:prstDash val="solid"/>
          </a:ln>
        </p:spPr>
      </p:sp>
      <p:sp>
        <p:nvSpPr>
          <p:cNvPr id="18" name="Text 16"/>
          <p:cNvSpPr/>
          <p:nvPr/>
        </p:nvSpPr>
        <p:spPr>
          <a:xfrm>
            <a:off x="3913632" y="3108960"/>
            <a:ext cx="1874520" cy="320040"/>
          </a:xfrm>
          <a:prstGeom prst="rect">
            <a:avLst/>
          </a:prstGeom>
          <a:noFill/>
          <a:ln/>
        </p:spPr>
        <p:txBody>
          <a:bodyPr wrap="square" lIns="0" tIns="0" rIns="0" bIns="0" rtlCol="0" anchor="ctr"/>
          <a:lstStyle/>
          <a:p>
            <a:pPr indent="0" marL="0">
              <a:buNone/>
            </a:pPr>
            <a:r>
              <a:rPr lang="en-US" sz="1000" b="1" dirty="0">
                <a:solidFill>
                  <a:srgbClr val="0D1B3E"/>
                </a:solidFill>
                <a:latin typeface="Calibri" pitchFamily="34" charset="0"/>
                <a:ea typeface="Calibri" pitchFamily="34" charset="-122"/>
                <a:cs typeface="Calibri" pitchFamily="34" charset="-120"/>
              </a:rPr>
              <a:t>VALUE_DROP</a:t>
            </a:r>
            <a:endParaRPr lang="en-US" sz="1000" dirty="0"/>
          </a:p>
        </p:txBody>
      </p:sp>
      <p:sp>
        <p:nvSpPr>
          <p:cNvPr id="19" name="Text 17"/>
          <p:cNvSpPr/>
          <p:nvPr/>
        </p:nvSpPr>
        <p:spPr>
          <a:xfrm>
            <a:off x="3913632" y="3447288"/>
            <a:ext cx="1874520" cy="38404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Sudden metric</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drop</a:t>
            </a:r>
            <a:endParaRPr lang="en-US" sz="900" dirty="0"/>
          </a:p>
        </p:txBody>
      </p:sp>
      <p:sp>
        <p:nvSpPr>
          <p:cNvPr id="20" name="Shape 18"/>
          <p:cNvSpPr/>
          <p:nvPr/>
        </p:nvSpPr>
        <p:spPr>
          <a:xfrm>
            <a:off x="6035040" y="3063240"/>
            <a:ext cx="2651760" cy="822960"/>
          </a:xfrm>
          <a:prstGeom prst="roundRect">
            <a:avLst>
              <a:gd name="adj" fmla="val 8889"/>
            </a:avLst>
          </a:prstGeom>
          <a:solidFill>
            <a:srgbClr val="FFFFFF"/>
          </a:solidFill>
          <a:ln/>
          <a:effectLst>
            <a:outerShdw sx="100000" sy="100000" kx="0" ky="0" algn="bl" rotWithShape="0" blurRad="101600" dist="38100" dir="2700000">
              <a:srgbClr val="000000">
                <a:alpha val="12000"/>
              </a:srgbClr>
            </a:outerShdw>
          </a:effectLst>
        </p:spPr>
      </p:sp>
      <p:sp>
        <p:nvSpPr>
          <p:cNvPr id="21" name="Shape 19"/>
          <p:cNvSpPr/>
          <p:nvPr/>
        </p:nvSpPr>
        <p:spPr>
          <a:xfrm>
            <a:off x="6126480" y="3200400"/>
            <a:ext cx="548640" cy="548640"/>
          </a:xfrm>
          <a:prstGeom prst="ellipse">
            <a:avLst/>
          </a:prstGeom>
          <a:solidFill>
            <a:srgbClr val="EAB308"/>
          </a:solidFill>
          <a:ln w="12700">
            <a:solidFill>
              <a:srgbClr val="EAB308"/>
            </a:solidFill>
            <a:prstDash val="solid"/>
          </a:ln>
        </p:spPr>
      </p:sp>
      <p:sp>
        <p:nvSpPr>
          <p:cNvPr id="22" name="Text 20"/>
          <p:cNvSpPr/>
          <p:nvPr/>
        </p:nvSpPr>
        <p:spPr>
          <a:xfrm>
            <a:off x="6748272" y="3108960"/>
            <a:ext cx="1874520" cy="320040"/>
          </a:xfrm>
          <a:prstGeom prst="rect">
            <a:avLst/>
          </a:prstGeom>
          <a:noFill/>
          <a:ln/>
        </p:spPr>
        <p:txBody>
          <a:bodyPr wrap="square" lIns="0" tIns="0" rIns="0" bIns="0" rtlCol="0" anchor="ctr"/>
          <a:lstStyle/>
          <a:p>
            <a:pPr indent="0" marL="0">
              <a:buNone/>
            </a:pPr>
            <a:r>
              <a:rPr lang="en-US" sz="1000" b="1" dirty="0">
                <a:solidFill>
                  <a:srgbClr val="0D1B3E"/>
                </a:solidFill>
                <a:latin typeface="Calibri" pitchFamily="34" charset="0"/>
                <a:ea typeface="Calibri" pitchFamily="34" charset="-122"/>
                <a:cs typeface="Calibri" pitchFamily="34" charset="-120"/>
              </a:rPr>
              <a:t>VOLUME_SPIKE</a:t>
            </a:r>
            <a:endParaRPr lang="en-US" sz="1000" dirty="0"/>
          </a:p>
        </p:txBody>
      </p:sp>
      <p:sp>
        <p:nvSpPr>
          <p:cNvPr id="23" name="Text 21"/>
          <p:cNvSpPr/>
          <p:nvPr/>
        </p:nvSpPr>
        <p:spPr>
          <a:xfrm>
            <a:off x="6748272" y="3447288"/>
            <a:ext cx="1874520" cy="38404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Record count</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surge</a:t>
            </a:r>
            <a:endParaRPr lang="en-US" sz="900" dirty="0"/>
          </a:p>
        </p:txBody>
      </p:sp>
      <p:sp>
        <p:nvSpPr>
          <p:cNvPr id="24" name="Shape 22"/>
          <p:cNvSpPr/>
          <p:nvPr/>
        </p:nvSpPr>
        <p:spPr>
          <a:xfrm>
            <a:off x="365760" y="4023360"/>
            <a:ext cx="2651760" cy="822960"/>
          </a:xfrm>
          <a:prstGeom prst="roundRect">
            <a:avLst>
              <a:gd name="adj" fmla="val 8889"/>
            </a:avLst>
          </a:prstGeom>
          <a:solidFill>
            <a:srgbClr val="FFFFFF"/>
          </a:solidFill>
          <a:ln/>
          <a:effectLst>
            <a:outerShdw sx="100000" sy="100000" kx="0" ky="0" algn="bl" rotWithShape="0" blurRad="101600" dist="38100" dir="2700000">
              <a:srgbClr val="000000">
                <a:alpha val="12000"/>
              </a:srgbClr>
            </a:outerShdw>
          </a:effectLst>
        </p:spPr>
      </p:sp>
      <p:sp>
        <p:nvSpPr>
          <p:cNvPr id="25" name="Shape 23"/>
          <p:cNvSpPr/>
          <p:nvPr/>
        </p:nvSpPr>
        <p:spPr>
          <a:xfrm>
            <a:off x="457200" y="4160520"/>
            <a:ext cx="548640" cy="548640"/>
          </a:xfrm>
          <a:prstGeom prst="ellipse">
            <a:avLst/>
          </a:prstGeom>
          <a:solidFill>
            <a:srgbClr val="F59E0B"/>
          </a:solidFill>
          <a:ln w="12700">
            <a:solidFill>
              <a:srgbClr val="F59E0B"/>
            </a:solidFill>
            <a:prstDash val="solid"/>
          </a:ln>
        </p:spPr>
      </p:sp>
      <p:sp>
        <p:nvSpPr>
          <p:cNvPr id="26" name="Text 24"/>
          <p:cNvSpPr/>
          <p:nvPr/>
        </p:nvSpPr>
        <p:spPr>
          <a:xfrm>
            <a:off x="1078992" y="4069080"/>
            <a:ext cx="1874520" cy="320040"/>
          </a:xfrm>
          <a:prstGeom prst="rect">
            <a:avLst/>
          </a:prstGeom>
          <a:noFill/>
          <a:ln/>
        </p:spPr>
        <p:txBody>
          <a:bodyPr wrap="square" lIns="0" tIns="0" rIns="0" bIns="0" rtlCol="0" anchor="ctr"/>
          <a:lstStyle/>
          <a:p>
            <a:pPr indent="0" marL="0">
              <a:buNone/>
            </a:pPr>
            <a:r>
              <a:rPr lang="en-US" sz="1000" b="1" dirty="0">
                <a:solidFill>
                  <a:srgbClr val="0D1B3E"/>
                </a:solidFill>
                <a:latin typeface="Calibri" pitchFamily="34" charset="0"/>
                <a:ea typeface="Calibri" pitchFamily="34" charset="-122"/>
                <a:cs typeface="Calibri" pitchFamily="34" charset="-120"/>
              </a:rPr>
              <a:t>VOLUME_DROP</a:t>
            </a:r>
            <a:endParaRPr lang="en-US" sz="1000" dirty="0"/>
          </a:p>
        </p:txBody>
      </p:sp>
      <p:sp>
        <p:nvSpPr>
          <p:cNvPr id="27" name="Text 25"/>
          <p:cNvSpPr/>
          <p:nvPr/>
        </p:nvSpPr>
        <p:spPr>
          <a:xfrm>
            <a:off x="1078992" y="4407408"/>
            <a:ext cx="1874520" cy="38404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Records lower</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than expected</a:t>
            </a:r>
            <a:endParaRPr lang="en-US" sz="900" dirty="0"/>
          </a:p>
        </p:txBody>
      </p:sp>
      <p:sp>
        <p:nvSpPr>
          <p:cNvPr id="28" name="Shape 26"/>
          <p:cNvSpPr/>
          <p:nvPr/>
        </p:nvSpPr>
        <p:spPr>
          <a:xfrm>
            <a:off x="3200400" y="4023360"/>
            <a:ext cx="2651760" cy="822960"/>
          </a:xfrm>
          <a:prstGeom prst="roundRect">
            <a:avLst>
              <a:gd name="adj" fmla="val 8889"/>
            </a:avLst>
          </a:prstGeom>
          <a:solidFill>
            <a:srgbClr val="FFFFFF"/>
          </a:solidFill>
          <a:ln/>
          <a:effectLst>
            <a:outerShdw sx="100000" sy="100000" kx="0" ky="0" algn="bl" rotWithShape="0" blurRad="101600" dist="38100" dir="2700000">
              <a:srgbClr val="000000">
                <a:alpha val="12000"/>
              </a:srgbClr>
            </a:outerShdw>
          </a:effectLst>
        </p:spPr>
      </p:sp>
      <p:sp>
        <p:nvSpPr>
          <p:cNvPr id="29" name="Shape 27"/>
          <p:cNvSpPr/>
          <p:nvPr/>
        </p:nvSpPr>
        <p:spPr>
          <a:xfrm>
            <a:off x="3291840" y="4160520"/>
            <a:ext cx="548640" cy="548640"/>
          </a:xfrm>
          <a:prstGeom prst="ellipse">
            <a:avLst/>
          </a:prstGeom>
          <a:solidFill>
            <a:srgbClr val="7C3AED"/>
          </a:solidFill>
          <a:ln w="12700">
            <a:solidFill>
              <a:srgbClr val="7C3AED"/>
            </a:solidFill>
            <a:prstDash val="solid"/>
          </a:ln>
        </p:spPr>
      </p:sp>
      <p:sp>
        <p:nvSpPr>
          <p:cNvPr id="30" name="Text 28"/>
          <p:cNvSpPr/>
          <p:nvPr/>
        </p:nvSpPr>
        <p:spPr>
          <a:xfrm>
            <a:off x="3913632" y="4069080"/>
            <a:ext cx="1874520" cy="320040"/>
          </a:xfrm>
          <a:prstGeom prst="rect">
            <a:avLst/>
          </a:prstGeom>
          <a:noFill/>
          <a:ln/>
        </p:spPr>
        <p:txBody>
          <a:bodyPr wrap="square" lIns="0" tIns="0" rIns="0" bIns="0" rtlCol="0" anchor="ctr"/>
          <a:lstStyle/>
          <a:p>
            <a:pPr indent="0" marL="0">
              <a:buNone/>
            </a:pPr>
            <a:r>
              <a:rPr lang="en-US" sz="1000" b="1" dirty="0">
                <a:solidFill>
                  <a:srgbClr val="0D1B3E"/>
                </a:solidFill>
                <a:latin typeface="Calibri" pitchFamily="34" charset="0"/>
                <a:ea typeface="Calibri" pitchFamily="34" charset="-122"/>
                <a:cs typeface="Calibri" pitchFamily="34" charset="-120"/>
              </a:rPr>
              <a:t>MULTI_COLUMN</a:t>
            </a:r>
            <a:endParaRPr lang="en-US" sz="1000" dirty="0"/>
          </a:p>
        </p:txBody>
      </p:sp>
      <p:sp>
        <p:nvSpPr>
          <p:cNvPr id="31" name="Text 29"/>
          <p:cNvSpPr/>
          <p:nvPr/>
        </p:nvSpPr>
        <p:spPr>
          <a:xfrm>
            <a:off x="3913632" y="4407408"/>
            <a:ext cx="1874520" cy="38404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Individually fine,</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together odd</a:t>
            </a:r>
            <a:endParaRPr lang="en-US" sz="900" dirty="0"/>
          </a:p>
        </p:txBody>
      </p:sp>
      <p:sp>
        <p:nvSpPr>
          <p:cNvPr id="32" name="Shape 30"/>
          <p:cNvSpPr/>
          <p:nvPr/>
        </p:nvSpPr>
        <p:spPr>
          <a:xfrm>
            <a:off x="6035040" y="4023360"/>
            <a:ext cx="2651760" cy="822960"/>
          </a:xfrm>
          <a:prstGeom prst="roundRect">
            <a:avLst>
              <a:gd name="adj" fmla="val 8889"/>
            </a:avLst>
          </a:prstGeom>
          <a:solidFill>
            <a:srgbClr val="FFFFFF"/>
          </a:solidFill>
          <a:ln/>
          <a:effectLst>
            <a:outerShdw sx="100000" sy="100000" kx="0" ky="0" algn="bl" rotWithShape="0" blurRad="101600" dist="38100" dir="2700000">
              <a:srgbClr val="000000">
                <a:alpha val="12000"/>
              </a:srgbClr>
            </a:outerShdw>
          </a:effectLst>
        </p:spPr>
      </p:sp>
      <p:sp>
        <p:nvSpPr>
          <p:cNvPr id="33" name="Shape 31"/>
          <p:cNvSpPr/>
          <p:nvPr/>
        </p:nvSpPr>
        <p:spPr>
          <a:xfrm>
            <a:off x="6126480" y="4160520"/>
            <a:ext cx="548640" cy="548640"/>
          </a:xfrm>
          <a:prstGeom prst="ellipse">
            <a:avLst/>
          </a:prstGeom>
          <a:solidFill>
            <a:srgbClr val="6366F1"/>
          </a:solidFill>
          <a:ln w="12700">
            <a:solidFill>
              <a:srgbClr val="6366F1"/>
            </a:solidFill>
            <a:prstDash val="solid"/>
          </a:ln>
        </p:spPr>
      </p:sp>
      <p:sp>
        <p:nvSpPr>
          <p:cNvPr id="34" name="Text 32"/>
          <p:cNvSpPr/>
          <p:nvPr/>
        </p:nvSpPr>
        <p:spPr>
          <a:xfrm>
            <a:off x="6748272" y="4069080"/>
            <a:ext cx="1874520" cy="320040"/>
          </a:xfrm>
          <a:prstGeom prst="rect">
            <a:avLst/>
          </a:prstGeom>
          <a:noFill/>
          <a:ln/>
        </p:spPr>
        <p:txBody>
          <a:bodyPr wrap="square" lIns="0" tIns="0" rIns="0" bIns="0" rtlCol="0" anchor="ctr"/>
          <a:lstStyle/>
          <a:p>
            <a:pPr indent="0" marL="0">
              <a:buNone/>
            </a:pPr>
            <a:r>
              <a:rPr lang="en-US" sz="1000" b="1" dirty="0">
                <a:solidFill>
                  <a:srgbClr val="0D1B3E"/>
                </a:solidFill>
                <a:latin typeface="Calibri" pitchFamily="34" charset="0"/>
                <a:ea typeface="Calibri" pitchFamily="34" charset="-122"/>
                <a:cs typeface="Calibri" pitchFamily="34" charset="-120"/>
              </a:rPr>
              <a:t>SILENT_GAP</a:t>
            </a:r>
            <a:endParaRPr lang="en-US" sz="1000" dirty="0"/>
          </a:p>
        </p:txBody>
      </p:sp>
      <p:sp>
        <p:nvSpPr>
          <p:cNvPr id="35" name="Text 33"/>
          <p:cNvSpPr/>
          <p:nvPr/>
        </p:nvSpPr>
        <p:spPr>
          <a:xfrm>
            <a:off x="6748272" y="4407408"/>
            <a:ext cx="1874520" cy="38404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Region stops</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sending data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3E"/>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Architecture Flowchart</a:t>
            </a:r>
            <a:endParaRPr lang="en-US" sz="3200" dirty="0"/>
          </a:p>
        </p:txBody>
      </p:sp>
      <p:sp>
        <p:nvSpPr>
          <p:cNvPr id="3" name="Shape 1"/>
          <p:cNvSpPr/>
          <p:nvPr/>
        </p:nvSpPr>
        <p:spPr>
          <a:xfrm>
            <a:off x="365760" y="713232"/>
            <a:ext cx="8412480" cy="0"/>
          </a:xfrm>
          <a:prstGeom prst="line">
            <a:avLst/>
          </a:prstGeom>
          <a:noFill/>
          <a:ln w="19050">
            <a:solidFill>
              <a:srgbClr val="0891B2"/>
            </a:solidFill>
            <a:prstDash val="solid"/>
          </a:ln>
        </p:spPr>
      </p:sp>
      <p:sp>
        <p:nvSpPr>
          <p:cNvPr id="4" name="Shape 2"/>
          <p:cNvSpPr/>
          <p:nvPr/>
        </p:nvSpPr>
        <p:spPr>
          <a:xfrm>
            <a:off x="137160" y="896112"/>
            <a:ext cx="914400" cy="713232"/>
          </a:xfrm>
          <a:prstGeom prst="roundRect">
            <a:avLst>
              <a:gd name="adj" fmla="val 10256"/>
            </a:avLst>
          </a:prstGeom>
          <a:solidFill>
            <a:srgbClr val="0891B2"/>
          </a:solidFill>
          <a:ln/>
        </p:spPr>
      </p:sp>
      <p:sp>
        <p:nvSpPr>
          <p:cNvPr id="5" name="Text 3"/>
          <p:cNvSpPr/>
          <p:nvPr/>
        </p:nvSpPr>
        <p:spPr>
          <a:xfrm>
            <a:off x="137160" y="896112"/>
            <a:ext cx="914400" cy="27432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137160" y="1152144"/>
            <a:ext cx="914400" cy="457200"/>
          </a:xfrm>
          <a:prstGeom prst="rect">
            <a:avLst/>
          </a:prstGeom>
          <a:noFill/>
          <a:ln/>
        </p:spPr>
        <p:txBody>
          <a:bodyPr wrap="square"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SOURCES</a:t>
            </a:r>
            <a:endParaRPr lang="en-US" sz="700" dirty="0"/>
          </a:p>
          <a:p>
            <a:pPr algn="ctr" indent="0" marL="0">
              <a:buNone/>
            </a:pPr>
            <a:r>
              <a:rPr lang="en-US" sz="700" dirty="0">
                <a:solidFill>
                  <a:srgbClr val="FFFFFF"/>
                </a:solidFill>
                <a:latin typeface="Calibri" pitchFamily="34" charset="0"/>
                <a:ea typeface="Calibri" pitchFamily="34" charset="-122"/>
                <a:cs typeface="Calibri" pitchFamily="34" charset="-120"/>
              </a:rPr>
              <a:t>(COMM DEV)</a:t>
            </a:r>
            <a:endParaRPr lang="en-US" sz="700" dirty="0"/>
          </a:p>
        </p:txBody>
      </p:sp>
      <p:sp>
        <p:nvSpPr>
          <p:cNvPr id="7" name="Shape 5"/>
          <p:cNvSpPr/>
          <p:nvPr/>
        </p:nvSpPr>
        <p:spPr>
          <a:xfrm>
            <a:off x="137160" y="1755648"/>
            <a:ext cx="914400" cy="713232"/>
          </a:xfrm>
          <a:prstGeom prst="roundRect">
            <a:avLst>
              <a:gd name="adj" fmla="val 10256"/>
            </a:avLst>
          </a:prstGeom>
          <a:solidFill>
            <a:srgbClr val="0C7A5E"/>
          </a:solidFill>
          <a:ln/>
        </p:spPr>
      </p:sp>
      <p:sp>
        <p:nvSpPr>
          <p:cNvPr id="8" name="Text 6"/>
          <p:cNvSpPr/>
          <p:nvPr/>
        </p:nvSpPr>
        <p:spPr>
          <a:xfrm>
            <a:off x="137160" y="1755648"/>
            <a:ext cx="914400" cy="27432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9" name="Text 7"/>
          <p:cNvSpPr/>
          <p:nvPr/>
        </p:nvSpPr>
        <p:spPr>
          <a:xfrm>
            <a:off x="137160" y="2011680"/>
            <a:ext cx="914400" cy="457200"/>
          </a:xfrm>
          <a:prstGeom prst="rect">
            <a:avLst/>
          </a:prstGeom>
          <a:noFill/>
          <a:ln/>
        </p:spPr>
        <p:txBody>
          <a:bodyPr wrap="square"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CURATED</a:t>
            </a:r>
            <a:endParaRPr lang="en-US" sz="700" dirty="0"/>
          </a:p>
          <a:p>
            <a:pPr algn="ctr" indent="0" marL="0">
              <a:buNone/>
            </a:pPr>
            <a:r>
              <a:rPr lang="en-US" sz="700" dirty="0">
                <a:solidFill>
                  <a:srgbClr val="FFFFFF"/>
                </a:solidFill>
                <a:latin typeface="Calibri" pitchFamily="34" charset="0"/>
                <a:ea typeface="Calibri" pitchFamily="34" charset="-122"/>
                <a:cs typeface="Calibri" pitchFamily="34" charset="-120"/>
              </a:rPr>
              <a:t>VIEWS</a:t>
            </a:r>
            <a:endParaRPr lang="en-US" sz="700" dirty="0"/>
          </a:p>
        </p:txBody>
      </p:sp>
      <p:sp>
        <p:nvSpPr>
          <p:cNvPr id="10" name="Shape 8"/>
          <p:cNvSpPr/>
          <p:nvPr/>
        </p:nvSpPr>
        <p:spPr>
          <a:xfrm>
            <a:off x="137160" y="2670048"/>
            <a:ext cx="914400" cy="713232"/>
          </a:xfrm>
          <a:prstGeom prst="roundRect">
            <a:avLst>
              <a:gd name="adj" fmla="val 10256"/>
            </a:avLst>
          </a:prstGeom>
          <a:solidFill>
            <a:srgbClr val="7C3AED"/>
          </a:solidFill>
          <a:ln/>
        </p:spPr>
      </p:sp>
      <p:sp>
        <p:nvSpPr>
          <p:cNvPr id="11" name="Text 9"/>
          <p:cNvSpPr/>
          <p:nvPr/>
        </p:nvSpPr>
        <p:spPr>
          <a:xfrm>
            <a:off x="137160" y="2670048"/>
            <a:ext cx="914400" cy="27432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p:nvPr/>
        </p:nvSpPr>
        <p:spPr>
          <a:xfrm>
            <a:off x="137160" y="2926080"/>
            <a:ext cx="914400" cy="457200"/>
          </a:xfrm>
          <a:prstGeom prst="rect">
            <a:avLst/>
          </a:prstGeom>
          <a:noFill/>
          <a:ln/>
        </p:spPr>
        <p:txBody>
          <a:bodyPr wrap="square"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AI / LEARNING</a:t>
            </a:r>
            <a:endParaRPr lang="en-US" sz="700" dirty="0"/>
          </a:p>
          <a:p>
            <a:pPr algn="ctr" indent="0" marL="0">
              <a:buNone/>
            </a:pPr>
            <a:r>
              <a:rPr lang="en-US" sz="700" dirty="0">
                <a:solidFill>
                  <a:srgbClr val="FFFFFF"/>
                </a:solidFill>
                <a:latin typeface="Calibri" pitchFamily="34" charset="0"/>
                <a:ea typeface="Calibri" pitchFamily="34" charset="-122"/>
                <a:cs typeface="Calibri" pitchFamily="34" charset="-120"/>
              </a:rPr>
              <a:t>LAYER</a:t>
            </a:r>
            <a:endParaRPr lang="en-US" sz="700" dirty="0"/>
          </a:p>
        </p:txBody>
      </p:sp>
      <p:sp>
        <p:nvSpPr>
          <p:cNvPr id="13" name="Shape 11"/>
          <p:cNvSpPr/>
          <p:nvPr/>
        </p:nvSpPr>
        <p:spPr>
          <a:xfrm>
            <a:off x="137160" y="3703320"/>
            <a:ext cx="914400" cy="713232"/>
          </a:xfrm>
          <a:prstGeom prst="roundRect">
            <a:avLst>
              <a:gd name="adj" fmla="val 10256"/>
            </a:avLst>
          </a:prstGeom>
          <a:solidFill>
            <a:srgbClr val="059669"/>
          </a:solidFill>
          <a:ln/>
        </p:spPr>
      </p:sp>
      <p:sp>
        <p:nvSpPr>
          <p:cNvPr id="14" name="Text 12"/>
          <p:cNvSpPr/>
          <p:nvPr/>
        </p:nvSpPr>
        <p:spPr>
          <a:xfrm>
            <a:off x="137160" y="3703320"/>
            <a:ext cx="914400" cy="27432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p:nvPr/>
        </p:nvSpPr>
        <p:spPr>
          <a:xfrm>
            <a:off x="137160" y="3959352"/>
            <a:ext cx="914400" cy="457200"/>
          </a:xfrm>
          <a:prstGeom prst="rect">
            <a:avLst/>
          </a:prstGeom>
          <a:noFill/>
          <a:ln/>
        </p:spPr>
        <p:txBody>
          <a:bodyPr wrap="square"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CONSUMPTION</a:t>
            </a:r>
            <a:endParaRPr lang="en-US" sz="700" dirty="0"/>
          </a:p>
        </p:txBody>
      </p:sp>
      <p:sp>
        <p:nvSpPr>
          <p:cNvPr id="16" name="Shape 14"/>
          <p:cNvSpPr/>
          <p:nvPr/>
        </p:nvSpPr>
        <p:spPr>
          <a:xfrm>
            <a:off x="1207008" y="932688"/>
            <a:ext cx="2286000" cy="566928"/>
          </a:xfrm>
          <a:prstGeom prst="roundRect">
            <a:avLst>
              <a:gd name="adj" fmla="val 16129"/>
            </a:avLst>
          </a:prstGeom>
          <a:solidFill>
            <a:srgbClr val="1B3A5C"/>
          </a:solidFill>
          <a:ln/>
          <a:effectLst>
            <a:outerShdw sx="100000" sy="100000" kx="0" ky="0" algn="bl" rotWithShape="0" blurRad="101600" dist="38100" dir="2700000">
              <a:srgbClr val="000000">
                <a:alpha val="12000"/>
              </a:srgbClr>
            </a:outerShdw>
          </a:effectLst>
        </p:spPr>
      </p:sp>
      <p:sp>
        <p:nvSpPr>
          <p:cNvPr id="17" name="Text 15"/>
          <p:cNvSpPr/>
          <p:nvPr/>
        </p:nvSpPr>
        <p:spPr>
          <a:xfrm>
            <a:off x="1298448" y="978408"/>
            <a:ext cx="2103120" cy="475488"/>
          </a:xfrm>
          <a:prstGeom prst="rect">
            <a:avLst/>
          </a:prstGeom>
          <a:noFill/>
          <a:ln/>
        </p:spPr>
        <p:txBody>
          <a:bodyPr wrap="square"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GOLD.METRIC_AGGREGATE</a:t>
            </a:r>
            <a:endParaRPr lang="en-US" sz="900" dirty="0"/>
          </a:p>
          <a:p>
            <a:pPr algn="ctr" indent="0" marL="0">
              <a:buNone/>
            </a:pPr>
            <a:r>
              <a:rPr lang="en-US" sz="900" b="1" dirty="0">
                <a:solidFill>
                  <a:srgbClr val="38BDF8"/>
                </a:solidFill>
                <a:latin typeface="Calibri" pitchFamily="34" charset="0"/>
                <a:ea typeface="Calibri" pitchFamily="34" charset="-122"/>
                <a:cs typeface="Calibri" pitchFamily="34" charset="-120"/>
              </a:rPr>
              <a:t>daily metrics</a:t>
            </a:r>
            <a:endParaRPr lang="en-US" sz="900" dirty="0"/>
          </a:p>
        </p:txBody>
      </p:sp>
      <p:sp>
        <p:nvSpPr>
          <p:cNvPr id="18" name="Shape 16"/>
          <p:cNvSpPr/>
          <p:nvPr/>
        </p:nvSpPr>
        <p:spPr>
          <a:xfrm>
            <a:off x="3703320" y="932688"/>
            <a:ext cx="2286000" cy="566928"/>
          </a:xfrm>
          <a:prstGeom prst="roundRect">
            <a:avLst>
              <a:gd name="adj" fmla="val 16129"/>
            </a:avLst>
          </a:prstGeom>
          <a:solidFill>
            <a:srgbClr val="1B3A5C"/>
          </a:solidFill>
          <a:ln/>
          <a:effectLst>
            <a:outerShdw sx="100000" sy="100000" kx="0" ky="0" algn="bl" rotWithShape="0" blurRad="101600" dist="38100" dir="2700000">
              <a:srgbClr val="000000">
                <a:alpha val="12000"/>
              </a:srgbClr>
            </a:outerShdw>
          </a:effectLst>
        </p:spPr>
      </p:sp>
      <p:sp>
        <p:nvSpPr>
          <p:cNvPr id="19" name="Text 17"/>
          <p:cNvSpPr/>
          <p:nvPr/>
        </p:nvSpPr>
        <p:spPr>
          <a:xfrm>
            <a:off x="3794760" y="978408"/>
            <a:ext cx="2103120" cy="475488"/>
          </a:xfrm>
          <a:prstGeom prst="rect">
            <a:avLst/>
          </a:prstGeom>
          <a:noFill/>
          <a:ln/>
        </p:spPr>
        <p:txBody>
          <a:bodyPr wrap="square"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INFORMATION_SCHEMA</a:t>
            </a:r>
            <a:endParaRPr lang="en-US" sz="900" dirty="0"/>
          </a:p>
          <a:p>
            <a:pPr algn="ctr" indent="0" marL="0">
              <a:buNone/>
            </a:pPr>
            <a:r>
              <a:rPr lang="en-US" sz="900" b="1" dirty="0">
                <a:solidFill>
                  <a:srgbClr val="38BDF8"/>
                </a:solidFill>
                <a:latin typeface="Calibri" pitchFamily="34" charset="0"/>
                <a:ea typeface="Calibri" pitchFamily="34" charset="-122"/>
                <a:cs typeface="Calibri" pitchFamily="34" charset="-120"/>
              </a:rPr>
              <a:t>tables · columns · refresh</a:t>
            </a:r>
            <a:endParaRPr lang="en-US" sz="900" dirty="0"/>
          </a:p>
        </p:txBody>
      </p:sp>
      <p:sp>
        <p:nvSpPr>
          <p:cNvPr id="20" name="Shape 18"/>
          <p:cNvSpPr/>
          <p:nvPr/>
        </p:nvSpPr>
        <p:spPr>
          <a:xfrm>
            <a:off x="6217920" y="932688"/>
            <a:ext cx="2286000" cy="566928"/>
          </a:xfrm>
          <a:prstGeom prst="roundRect">
            <a:avLst>
              <a:gd name="adj" fmla="val 16129"/>
            </a:avLst>
          </a:prstGeom>
          <a:solidFill>
            <a:srgbClr val="1B3A5C"/>
          </a:solidFill>
          <a:ln/>
          <a:effectLst>
            <a:outerShdw sx="100000" sy="100000" kx="0" ky="0" algn="bl" rotWithShape="0" blurRad="101600" dist="38100" dir="2700000">
              <a:srgbClr val="000000">
                <a:alpha val="12000"/>
              </a:srgbClr>
            </a:outerShdw>
          </a:effectLst>
        </p:spPr>
      </p:sp>
      <p:sp>
        <p:nvSpPr>
          <p:cNvPr id="21" name="Text 19"/>
          <p:cNvSpPr/>
          <p:nvPr/>
        </p:nvSpPr>
        <p:spPr>
          <a:xfrm>
            <a:off x="6309360" y="978408"/>
            <a:ext cx="2103120" cy="475488"/>
          </a:xfrm>
          <a:prstGeom prst="rect">
            <a:avLst/>
          </a:prstGeom>
          <a:noFill/>
          <a:ln/>
        </p:spPr>
        <p:txBody>
          <a:bodyPr wrap="square"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ACCOUNT_USAGE</a:t>
            </a:r>
            <a:endParaRPr lang="en-US" sz="900" dirty="0"/>
          </a:p>
          <a:p>
            <a:pPr algn="ctr" indent="0" marL="0">
              <a:buNone/>
            </a:pPr>
            <a:r>
              <a:rPr lang="en-US" sz="900" b="1" dirty="0">
                <a:solidFill>
                  <a:srgbClr val="38BDF8"/>
                </a:solidFill>
                <a:latin typeface="Calibri" pitchFamily="34" charset="0"/>
                <a:ea typeface="Calibri" pitchFamily="34" charset="-122"/>
                <a:cs typeface="Calibri" pitchFamily="34" charset="-120"/>
              </a:rPr>
              <a:t>lineage</a:t>
            </a:r>
            <a:endParaRPr lang="en-US" sz="900" dirty="0"/>
          </a:p>
        </p:txBody>
      </p:sp>
      <p:sp>
        <p:nvSpPr>
          <p:cNvPr id="22" name="Shape 20"/>
          <p:cNvSpPr/>
          <p:nvPr/>
        </p:nvSpPr>
        <p:spPr>
          <a:xfrm>
            <a:off x="2350008" y="1499616"/>
            <a:ext cx="0" cy="256032"/>
          </a:xfrm>
          <a:prstGeom prst="line">
            <a:avLst/>
          </a:prstGeom>
          <a:noFill/>
          <a:ln w="15240">
            <a:solidFill>
              <a:srgbClr val="94A3B8"/>
            </a:solidFill>
            <a:prstDash val="solid"/>
          </a:ln>
        </p:spPr>
      </p:sp>
      <p:sp>
        <p:nvSpPr>
          <p:cNvPr id="23" name="Shape 21"/>
          <p:cNvSpPr/>
          <p:nvPr/>
        </p:nvSpPr>
        <p:spPr>
          <a:xfrm>
            <a:off x="4846320" y="1499616"/>
            <a:ext cx="0" cy="256032"/>
          </a:xfrm>
          <a:prstGeom prst="line">
            <a:avLst/>
          </a:prstGeom>
          <a:noFill/>
          <a:ln w="15240">
            <a:solidFill>
              <a:srgbClr val="94A3B8"/>
            </a:solidFill>
            <a:prstDash val="solid"/>
          </a:ln>
        </p:spPr>
      </p:sp>
      <p:sp>
        <p:nvSpPr>
          <p:cNvPr id="24" name="Shape 22"/>
          <p:cNvSpPr/>
          <p:nvPr/>
        </p:nvSpPr>
        <p:spPr>
          <a:xfrm>
            <a:off x="7360920" y="1499616"/>
            <a:ext cx="0" cy="256032"/>
          </a:xfrm>
          <a:prstGeom prst="line">
            <a:avLst/>
          </a:prstGeom>
          <a:noFill/>
          <a:ln w="15240">
            <a:solidFill>
              <a:srgbClr val="94A3B8"/>
            </a:solidFill>
            <a:prstDash val="solid"/>
          </a:ln>
        </p:spPr>
      </p:sp>
      <p:sp>
        <p:nvSpPr>
          <p:cNvPr id="25" name="Shape 23"/>
          <p:cNvSpPr/>
          <p:nvPr/>
        </p:nvSpPr>
        <p:spPr>
          <a:xfrm>
            <a:off x="1207008" y="1783080"/>
            <a:ext cx="2377440" cy="640080"/>
          </a:xfrm>
          <a:prstGeom prst="roundRect">
            <a:avLst>
              <a:gd name="adj" fmla="val 14286"/>
            </a:avLst>
          </a:prstGeom>
          <a:solidFill>
            <a:srgbClr val="0B3D2E"/>
          </a:solidFill>
          <a:ln/>
          <a:effectLst>
            <a:outerShdw sx="100000" sy="100000" kx="0" ky="0" algn="bl" rotWithShape="0" blurRad="101600" dist="38100" dir="2700000">
              <a:srgbClr val="000000">
                <a:alpha val="12000"/>
              </a:srgbClr>
            </a:outerShdw>
          </a:effectLst>
        </p:spPr>
      </p:sp>
      <p:sp>
        <p:nvSpPr>
          <p:cNvPr id="26" name="Text 24"/>
          <p:cNvSpPr/>
          <p:nvPr/>
        </p:nvSpPr>
        <p:spPr>
          <a:xfrm>
            <a:off x="1298448" y="1828800"/>
            <a:ext cx="2194560" cy="548640"/>
          </a:xfrm>
          <a:prstGeom prst="rect">
            <a:avLst/>
          </a:prstGeom>
          <a:noFill/>
          <a:ln/>
        </p:spPr>
        <p:txBody>
          <a:bodyPr wrap="square" rtlCol="0" anchor="ctr"/>
          <a:lstStyle/>
          <a:p>
            <a:pPr algn="ctr" indent="0" marL="0">
              <a:buNone/>
            </a:pPr>
            <a:r>
              <a:rPr lang="en-US" sz="900" dirty="0">
                <a:solidFill>
                  <a:srgbClr val="6EE7B7"/>
                </a:solidFill>
                <a:latin typeface="Calibri" pitchFamily="34" charset="0"/>
                <a:ea typeface="Calibri" pitchFamily="34" charset="-122"/>
                <a:cs typeface="Calibri" pitchFamily="34" charset="-120"/>
              </a:rPr>
              <a:t>Metadata views</a:t>
            </a:r>
            <a:endParaRPr lang="en-US" sz="900" dirty="0"/>
          </a:p>
          <a:p>
            <a:pPr algn="ctr" indent="0" marL="0">
              <a:buNone/>
            </a:pPr>
            <a:r>
              <a:rPr lang="en-US" sz="900" dirty="0">
                <a:solidFill>
                  <a:srgbClr val="6EE7B7"/>
                </a:solidFill>
                <a:latin typeface="Calibri" pitchFamily="34" charset="0"/>
                <a:ea typeface="Calibri" pitchFamily="34" charset="-122"/>
                <a:cs typeface="Calibri" pitchFamily="34" charset="-120"/>
              </a:rPr>
              <a:t>catalog · lineage · stale</a:t>
            </a:r>
            <a:endParaRPr lang="en-US" sz="900" dirty="0"/>
          </a:p>
        </p:txBody>
      </p:sp>
      <p:sp>
        <p:nvSpPr>
          <p:cNvPr id="27" name="Shape 25"/>
          <p:cNvSpPr/>
          <p:nvPr/>
        </p:nvSpPr>
        <p:spPr>
          <a:xfrm>
            <a:off x="3840480" y="1783080"/>
            <a:ext cx="2377440" cy="640080"/>
          </a:xfrm>
          <a:prstGeom prst="roundRect">
            <a:avLst>
              <a:gd name="adj" fmla="val 14286"/>
            </a:avLst>
          </a:prstGeom>
          <a:solidFill>
            <a:srgbClr val="0B3D2E"/>
          </a:solidFill>
          <a:ln/>
          <a:effectLst>
            <a:outerShdw sx="100000" sy="100000" kx="0" ky="0" algn="bl" rotWithShape="0" blurRad="101600" dist="38100" dir="2700000">
              <a:srgbClr val="000000">
                <a:alpha val="12000"/>
              </a:srgbClr>
            </a:outerShdw>
          </a:effectLst>
        </p:spPr>
      </p:sp>
      <p:sp>
        <p:nvSpPr>
          <p:cNvPr id="28" name="Text 26"/>
          <p:cNvSpPr/>
          <p:nvPr/>
        </p:nvSpPr>
        <p:spPr>
          <a:xfrm>
            <a:off x="3931920" y="1828800"/>
            <a:ext cx="2194560" cy="548640"/>
          </a:xfrm>
          <a:prstGeom prst="rect">
            <a:avLst/>
          </a:prstGeom>
          <a:noFill/>
          <a:ln/>
        </p:spPr>
        <p:txBody>
          <a:bodyPr wrap="square" rtlCol="0" anchor="ctr"/>
          <a:lstStyle/>
          <a:p>
            <a:pPr algn="ctr" indent="0" marL="0">
              <a:buNone/>
            </a:pPr>
            <a:r>
              <a:rPr lang="en-US" sz="900" dirty="0">
                <a:solidFill>
                  <a:srgbClr val="6EE7B7"/>
                </a:solidFill>
                <a:latin typeface="Calibri" pitchFamily="34" charset="0"/>
                <a:ea typeface="Calibri" pitchFamily="34" charset="-122"/>
                <a:cs typeface="Calibri" pitchFamily="34" charset="-120"/>
              </a:rPr>
              <a:t>POC_METRIC_DAILY</a:t>
            </a:r>
            <a:endParaRPr lang="en-US" sz="900" dirty="0"/>
          </a:p>
          <a:p>
            <a:pPr algn="ctr" indent="0" marL="0">
              <a:buNone/>
            </a:pPr>
            <a:r>
              <a:rPr lang="en-US" sz="900" dirty="0">
                <a:solidFill>
                  <a:srgbClr val="6EE7B7"/>
                </a:solidFill>
                <a:latin typeface="Calibri" pitchFamily="34" charset="0"/>
                <a:ea typeface="Calibri" pitchFamily="34" charset="-122"/>
                <a:cs typeface="Calibri" pitchFamily="34" charset="-120"/>
              </a:rPr>
              <a:t>daily series</a:t>
            </a:r>
            <a:endParaRPr lang="en-US" sz="900" dirty="0"/>
          </a:p>
        </p:txBody>
      </p:sp>
      <p:sp>
        <p:nvSpPr>
          <p:cNvPr id="29" name="Shape 27"/>
          <p:cNvSpPr/>
          <p:nvPr/>
        </p:nvSpPr>
        <p:spPr>
          <a:xfrm>
            <a:off x="6446520" y="1783080"/>
            <a:ext cx="2377440" cy="640080"/>
          </a:xfrm>
          <a:prstGeom prst="roundRect">
            <a:avLst>
              <a:gd name="adj" fmla="val 14286"/>
            </a:avLst>
          </a:prstGeom>
          <a:solidFill>
            <a:srgbClr val="0B3D2E"/>
          </a:solidFill>
          <a:ln/>
          <a:effectLst>
            <a:outerShdw sx="100000" sy="100000" kx="0" ky="0" algn="bl" rotWithShape="0" blurRad="101600" dist="38100" dir="2700000">
              <a:srgbClr val="000000">
                <a:alpha val="12000"/>
              </a:srgbClr>
            </a:outerShdw>
          </a:effectLst>
        </p:spPr>
      </p:sp>
      <p:sp>
        <p:nvSpPr>
          <p:cNvPr id="30" name="Text 28"/>
          <p:cNvSpPr/>
          <p:nvPr/>
        </p:nvSpPr>
        <p:spPr>
          <a:xfrm>
            <a:off x="6537960" y="1828800"/>
            <a:ext cx="2194560" cy="548640"/>
          </a:xfrm>
          <a:prstGeom prst="rect">
            <a:avLst/>
          </a:prstGeom>
          <a:noFill/>
          <a:ln/>
        </p:spPr>
        <p:txBody>
          <a:bodyPr wrap="square" rtlCol="0" anchor="ctr"/>
          <a:lstStyle/>
          <a:p>
            <a:pPr algn="ctr" indent="0" marL="0">
              <a:buNone/>
            </a:pPr>
            <a:r>
              <a:rPr lang="en-US" sz="900" dirty="0">
                <a:solidFill>
                  <a:srgbClr val="6EE7B7"/>
                </a:solidFill>
                <a:latin typeface="Calibri" pitchFamily="34" charset="0"/>
                <a:ea typeface="Calibri" pitchFamily="34" charset="-122"/>
                <a:cs typeface="Calibri" pitchFamily="34" charset="-120"/>
              </a:rPr>
              <a:t>POC_FIELD_CATALOG</a:t>
            </a:r>
            <a:endParaRPr lang="en-US" sz="900" dirty="0"/>
          </a:p>
          <a:p>
            <a:pPr algn="ctr" indent="0" marL="0">
              <a:buNone/>
            </a:pPr>
            <a:r>
              <a:rPr lang="en-US" sz="900" dirty="0">
                <a:solidFill>
                  <a:srgbClr val="6EE7B7"/>
                </a:solidFill>
                <a:latin typeface="Calibri" pitchFamily="34" charset="0"/>
                <a:ea typeface="Calibri" pitchFamily="34" charset="-122"/>
                <a:cs typeface="Calibri" pitchFamily="34" charset="-120"/>
              </a:rPr>
              <a:t>field catalog · stale</a:t>
            </a:r>
            <a:endParaRPr lang="en-US" sz="900" dirty="0"/>
          </a:p>
        </p:txBody>
      </p:sp>
      <p:sp>
        <p:nvSpPr>
          <p:cNvPr id="31" name="Shape 29"/>
          <p:cNvSpPr/>
          <p:nvPr/>
        </p:nvSpPr>
        <p:spPr>
          <a:xfrm>
            <a:off x="2395728" y="2423160"/>
            <a:ext cx="0" cy="228600"/>
          </a:xfrm>
          <a:prstGeom prst="line">
            <a:avLst/>
          </a:prstGeom>
          <a:noFill/>
          <a:ln w="15240">
            <a:solidFill>
              <a:srgbClr val="94A3B8"/>
            </a:solidFill>
            <a:prstDash val="solid"/>
          </a:ln>
        </p:spPr>
      </p:sp>
      <p:sp>
        <p:nvSpPr>
          <p:cNvPr id="32" name="Shape 30"/>
          <p:cNvSpPr/>
          <p:nvPr/>
        </p:nvSpPr>
        <p:spPr>
          <a:xfrm>
            <a:off x="5029200" y="2423160"/>
            <a:ext cx="0" cy="228600"/>
          </a:xfrm>
          <a:prstGeom prst="line">
            <a:avLst/>
          </a:prstGeom>
          <a:noFill/>
          <a:ln w="15240">
            <a:solidFill>
              <a:srgbClr val="94A3B8"/>
            </a:solidFill>
            <a:prstDash val="solid"/>
          </a:ln>
        </p:spPr>
      </p:sp>
      <p:sp>
        <p:nvSpPr>
          <p:cNvPr id="33" name="Shape 31"/>
          <p:cNvSpPr/>
          <p:nvPr/>
        </p:nvSpPr>
        <p:spPr>
          <a:xfrm>
            <a:off x="7635240" y="2423160"/>
            <a:ext cx="0" cy="228600"/>
          </a:xfrm>
          <a:prstGeom prst="line">
            <a:avLst/>
          </a:prstGeom>
          <a:noFill/>
          <a:ln w="15240">
            <a:solidFill>
              <a:srgbClr val="94A3B8"/>
            </a:solidFill>
            <a:prstDash val="solid"/>
          </a:ln>
        </p:spPr>
      </p:sp>
      <p:sp>
        <p:nvSpPr>
          <p:cNvPr id="34" name="Shape 32"/>
          <p:cNvSpPr/>
          <p:nvPr/>
        </p:nvSpPr>
        <p:spPr>
          <a:xfrm>
            <a:off x="1207008" y="2724912"/>
            <a:ext cx="3246120" cy="685800"/>
          </a:xfrm>
          <a:prstGeom prst="roundRect">
            <a:avLst>
              <a:gd name="adj" fmla="val 13333"/>
            </a:avLst>
          </a:prstGeom>
          <a:solidFill>
            <a:srgbClr val="2D1260"/>
          </a:solidFill>
          <a:ln/>
          <a:effectLst>
            <a:outerShdw sx="100000" sy="100000" kx="0" ky="0" algn="bl" rotWithShape="0" blurRad="101600" dist="38100" dir="2700000">
              <a:srgbClr val="000000">
                <a:alpha val="12000"/>
              </a:srgbClr>
            </a:outerShdw>
          </a:effectLst>
        </p:spPr>
      </p:sp>
      <p:sp>
        <p:nvSpPr>
          <p:cNvPr id="35" name="Text 33"/>
          <p:cNvSpPr/>
          <p:nvPr/>
        </p:nvSpPr>
        <p:spPr>
          <a:xfrm>
            <a:off x="1298448" y="2761488"/>
            <a:ext cx="3063240" cy="612648"/>
          </a:xfrm>
          <a:prstGeom prst="rect">
            <a:avLst/>
          </a:prstGeom>
          <a:noFill/>
          <a:ln/>
        </p:spPr>
        <p:txBody>
          <a:bodyPr wrap="square" rtlCol="0" anchor="ctr"/>
          <a:lstStyle/>
          <a:p>
            <a:pPr algn="ctr" indent="0" marL="0">
              <a:buNone/>
            </a:pPr>
            <a:r>
              <a:rPr lang="en-US" sz="850" dirty="0">
                <a:solidFill>
                  <a:srgbClr val="DDD6FE"/>
                </a:solidFill>
                <a:latin typeface="Calibri" pitchFamily="34" charset="0"/>
                <a:ea typeface="Calibri" pitchFamily="34" charset="-122"/>
                <a:cs typeface="Calibri" pitchFamily="34" charset="-120"/>
              </a:rPr>
              <a:t>AI_COMPLETE Functions</a:t>
            </a:r>
            <a:endParaRPr lang="en-US" sz="850" dirty="0"/>
          </a:p>
          <a:p>
            <a:pPr algn="ctr" indent="0" marL="0">
              <a:buNone/>
            </a:pPr>
            <a:r>
              <a:rPr lang="en-US" sz="850" dirty="0">
                <a:solidFill>
                  <a:srgbClr val="DDD6FE"/>
                </a:solidFill>
                <a:latin typeface="Calibri" pitchFamily="34" charset="0"/>
                <a:ea typeface="Calibri" pitchFamily="34" charset="-122"/>
                <a:cs typeface="Calibri" pitchFamily="34" charset="-120"/>
              </a:rPr>
              <a:t>FN_EXPLAIN_FIELD · FN_EXPLAIN_UPSTREAM</a:t>
            </a:r>
            <a:endParaRPr lang="en-US" sz="850" dirty="0"/>
          </a:p>
          <a:p>
            <a:pPr algn="ctr" indent="0" marL="0">
              <a:buNone/>
            </a:pPr>
            <a:r>
              <a:rPr lang="en-US" sz="850" dirty="0">
                <a:solidFill>
                  <a:srgbClr val="DDD6FE"/>
                </a:solidFill>
                <a:latin typeface="Calibri" pitchFamily="34" charset="0"/>
                <a:ea typeface="Calibri" pitchFamily="34" charset="-122"/>
                <a:cs typeface="Calibri" pitchFamily="34" charset="-120"/>
              </a:rPr>
              <a:t>POC_AI_STALE_TABLE_REPORT</a:t>
            </a:r>
            <a:endParaRPr lang="en-US" sz="850" dirty="0"/>
          </a:p>
        </p:txBody>
      </p:sp>
      <p:sp>
        <p:nvSpPr>
          <p:cNvPr id="36" name="Shape 34"/>
          <p:cNvSpPr/>
          <p:nvPr/>
        </p:nvSpPr>
        <p:spPr>
          <a:xfrm>
            <a:off x="4754880" y="2724912"/>
            <a:ext cx="4069080" cy="685800"/>
          </a:xfrm>
          <a:prstGeom prst="roundRect">
            <a:avLst>
              <a:gd name="adj" fmla="val 13333"/>
            </a:avLst>
          </a:prstGeom>
          <a:solidFill>
            <a:srgbClr val="2D1260"/>
          </a:solidFill>
          <a:ln/>
          <a:effectLst>
            <a:outerShdw sx="100000" sy="100000" kx="0" ky="0" algn="bl" rotWithShape="0" blurRad="101600" dist="38100" dir="2700000">
              <a:srgbClr val="000000">
                <a:alpha val="12000"/>
              </a:srgbClr>
            </a:outerShdw>
          </a:effectLst>
        </p:spPr>
      </p:sp>
      <p:sp>
        <p:nvSpPr>
          <p:cNvPr id="37" name="Text 35"/>
          <p:cNvSpPr/>
          <p:nvPr/>
        </p:nvSpPr>
        <p:spPr>
          <a:xfrm>
            <a:off x="4846320" y="2761488"/>
            <a:ext cx="3886200" cy="612648"/>
          </a:xfrm>
          <a:prstGeom prst="rect">
            <a:avLst/>
          </a:prstGeom>
          <a:noFill/>
          <a:ln/>
        </p:spPr>
        <p:txBody>
          <a:bodyPr wrap="square" rtlCol="0" anchor="ctr"/>
          <a:lstStyle/>
          <a:p>
            <a:pPr algn="ctr" indent="0" marL="0">
              <a:buNone/>
            </a:pPr>
            <a:r>
              <a:rPr lang="en-US" sz="850" dirty="0">
                <a:solidFill>
                  <a:srgbClr val="DDD6FE"/>
                </a:solidFill>
                <a:latin typeface="Calibri" pitchFamily="34" charset="0"/>
                <a:ea typeface="Calibri" pitchFamily="34" charset="-122"/>
                <a:cs typeface="Calibri" pitchFamily="34" charset="-120"/>
              </a:rPr>
              <a:t>Learn normal: median + MAD</a:t>
            </a:r>
            <a:endParaRPr lang="en-US" sz="850" dirty="0"/>
          </a:p>
          <a:p>
            <a:pPr algn="ctr" indent="0" marL="0">
              <a:buNone/>
            </a:pPr>
            <a:r>
              <a:rPr lang="en-US" sz="850" dirty="0">
                <a:solidFill>
                  <a:srgbClr val="DDD6FE"/>
                </a:solidFill>
                <a:latin typeface="Calibri" pitchFamily="34" charset="0"/>
                <a:ea typeface="Calibri" pitchFamily="34" charset="-122"/>
                <a:cs typeface="Calibri" pitchFamily="34" charset="-120"/>
              </a:rPr>
              <a:t>POC_AD_SCORED · SILENT_GAPS · FINDINGS</a:t>
            </a:r>
            <a:endParaRPr lang="en-US" sz="850" dirty="0"/>
          </a:p>
          <a:p>
            <a:pPr algn="ctr" indent="0" marL="0">
              <a:buNone/>
            </a:pPr>
            <a:r>
              <a:rPr lang="en-US" sz="850" dirty="0">
                <a:solidFill>
                  <a:srgbClr val="DDD6FE"/>
                </a:solidFill>
                <a:latin typeface="Calibri" pitchFamily="34" charset="0"/>
                <a:ea typeface="Calibri" pitchFamily="34" charset="-122"/>
                <a:cs typeface="Calibri" pitchFamily="34" charset="-120"/>
              </a:rPr>
              <a:t>POC_AI_ANOMALY_REPORT</a:t>
            </a:r>
            <a:endParaRPr lang="en-US" sz="850" dirty="0"/>
          </a:p>
        </p:txBody>
      </p:sp>
      <p:sp>
        <p:nvSpPr>
          <p:cNvPr id="38" name="Shape 36"/>
          <p:cNvSpPr/>
          <p:nvPr/>
        </p:nvSpPr>
        <p:spPr>
          <a:xfrm>
            <a:off x="2825496" y="3410712"/>
            <a:ext cx="0" cy="292608"/>
          </a:xfrm>
          <a:prstGeom prst="line">
            <a:avLst/>
          </a:prstGeom>
          <a:noFill/>
          <a:ln w="15240">
            <a:solidFill>
              <a:srgbClr val="94A3B8"/>
            </a:solidFill>
            <a:prstDash val="solid"/>
          </a:ln>
        </p:spPr>
      </p:sp>
      <p:sp>
        <p:nvSpPr>
          <p:cNvPr id="39" name="Shape 37"/>
          <p:cNvSpPr/>
          <p:nvPr/>
        </p:nvSpPr>
        <p:spPr>
          <a:xfrm>
            <a:off x="6784848" y="3410712"/>
            <a:ext cx="0" cy="292608"/>
          </a:xfrm>
          <a:prstGeom prst="line">
            <a:avLst/>
          </a:prstGeom>
          <a:noFill/>
          <a:ln w="15240">
            <a:solidFill>
              <a:srgbClr val="94A3B8"/>
            </a:solidFill>
            <a:prstDash val="solid"/>
          </a:ln>
        </p:spPr>
      </p:sp>
      <p:sp>
        <p:nvSpPr>
          <p:cNvPr id="40" name="Shape 38"/>
          <p:cNvSpPr/>
          <p:nvPr/>
        </p:nvSpPr>
        <p:spPr>
          <a:xfrm>
            <a:off x="2834640" y="3703320"/>
            <a:ext cx="3950208" cy="0"/>
          </a:xfrm>
          <a:prstGeom prst="line">
            <a:avLst/>
          </a:prstGeom>
          <a:noFill/>
          <a:ln w="12700">
            <a:solidFill>
              <a:srgbClr val="94A3B8"/>
            </a:solidFill>
            <a:prstDash val="solid"/>
          </a:ln>
        </p:spPr>
      </p:sp>
      <p:sp>
        <p:nvSpPr>
          <p:cNvPr id="41" name="Shape 39"/>
          <p:cNvSpPr/>
          <p:nvPr/>
        </p:nvSpPr>
        <p:spPr>
          <a:xfrm>
            <a:off x="5029200" y="3703320"/>
            <a:ext cx="0" cy="109728"/>
          </a:xfrm>
          <a:prstGeom prst="line">
            <a:avLst/>
          </a:prstGeom>
          <a:noFill/>
          <a:ln w="15240">
            <a:solidFill>
              <a:srgbClr val="94A3B8"/>
            </a:solidFill>
            <a:prstDash val="solid"/>
          </a:ln>
        </p:spPr>
      </p:sp>
      <p:sp>
        <p:nvSpPr>
          <p:cNvPr id="42" name="Shape 40"/>
          <p:cNvSpPr/>
          <p:nvPr/>
        </p:nvSpPr>
        <p:spPr>
          <a:xfrm>
            <a:off x="1207008" y="3794760"/>
            <a:ext cx="2926080" cy="640080"/>
          </a:xfrm>
          <a:prstGeom prst="roundRect">
            <a:avLst>
              <a:gd name="adj" fmla="val 14286"/>
            </a:avLst>
          </a:prstGeom>
          <a:solidFill>
            <a:srgbClr val="0A3427"/>
          </a:solidFill>
          <a:ln/>
          <a:effectLst>
            <a:outerShdw sx="100000" sy="100000" kx="0" ky="0" algn="bl" rotWithShape="0" blurRad="101600" dist="38100" dir="2700000">
              <a:srgbClr val="000000">
                <a:alpha val="12000"/>
              </a:srgbClr>
            </a:outerShdw>
          </a:effectLst>
        </p:spPr>
      </p:sp>
      <p:sp>
        <p:nvSpPr>
          <p:cNvPr id="43" name="Text 41"/>
          <p:cNvSpPr/>
          <p:nvPr/>
        </p:nvSpPr>
        <p:spPr>
          <a:xfrm>
            <a:off x="1298448" y="3840480"/>
            <a:ext cx="2743200" cy="548640"/>
          </a:xfrm>
          <a:prstGeom prst="rect">
            <a:avLst/>
          </a:prstGeom>
          <a:noFill/>
          <a:ln/>
        </p:spPr>
        <p:txBody>
          <a:bodyPr wrap="square" rtlCol="0" anchor="ctr"/>
          <a:lstStyle/>
          <a:p>
            <a:pPr algn="ctr" indent="0" marL="0">
              <a:buNone/>
            </a:pPr>
            <a:r>
              <a:rPr lang="en-US" sz="900" b="1" dirty="0">
                <a:solidFill>
                  <a:srgbClr val="34D399"/>
                </a:solidFill>
                <a:latin typeface="Calibri" pitchFamily="34" charset="0"/>
                <a:ea typeface="Calibri" pitchFamily="34" charset="-122"/>
                <a:cs typeface="Calibri" pitchFamily="34" charset="-120"/>
              </a:rPr>
              <a:t>Semantic View</a:t>
            </a:r>
            <a:endParaRPr lang="en-US" sz="900" dirty="0"/>
          </a:p>
          <a:p>
            <a:pPr algn="ctr" indent="0" marL="0">
              <a:buNone/>
            </a:pPr>
            <a:r>
              <a:rPr lang="en-US" sz="900" b="1" dirty="0">
                <a:solidFill>
                  <a:srgbClr val="34D399"/>
                </a:solidFill>
                <a:latin typeface="Calibri" pitchFamily="34" charset="0"/>
                <a:ea typeface="Calibri" pitchFamily="34" charset="-122"/>
                <a:cs typeface="Calibri" pitchFamily="34" charset="-120"/>
              </a:rPr>
              <a:t>POC_PIPELINE_INTELLIGENCE</a:t>
            </a:r>
            <a:endParaRPr lang="en-US" sz="900" dirty="0"/>
          </a:p>
        </p:txBody>
      </p:sp>
      <p:sp>
        <p:nvSpPr>
          <p:cNvPr id="44" name="Shape 42"/>
          <p:cNvSpPr/>
          <p:nvPr/>
        </p:nvSpPr>
        <p:spPr>
          <a:xfrm>
            <a:off x="4434840" y="3794760"/>
            <a:ext cx="2926080" cy="640080"/>
          </a:xfrm>
          <a:prstGeom prst="roundRect">
            <a:avLst>
              <a:gd name="adj" fmla="val 14286"/>
            </a:avLst>
          </a:prstGeom>
          <a:solidFill>
            <a:srgbClr val="0A3427"/>
          </a:solidFill>
          <a:ln/>
          <a:effectLst>
            <a:outerShdw sx="100000" sy="100000" kx="0" ky="0" algn="bl" rotWithShape="0" blurRad="101600" dist="38100" dir="2700000">
              <a:srgbClr val="000000">
                <a:alpha val="12000"/>
              </a:srgbClr>
            </a:outerShdw>
          </a:effectLst>
        </p:spPr>
      </p:sp>
      <p:sp>
        <p:nvSpPr>
          <p:cNvPr id="45" name="Text 43"/>
          <p:cNvSpPr/>
          <p:nvPr/>
        </p:nvSpPr>
        <p:spPr>
          <a:xfrm>
            <a:off x="4526280" y="3840480"/>
            <a:ext cx="2743200" cy="548640"/>
          </a:xfrm>
          <a:prstGeom prst="rect">
            <a:avLst/>
          </a:prstGeom>
          <a:noFill/>
          <a:ln/>
        </p:spPr>
        <p:txBody>
          <a:bodyPr wrap="square" rtlCol="0" anchor="ctr"/>
          <a:lstStyle/>
          <a:p>
            <a:pPr algn="ctr" indent="0" marL="0">
              <a:buNone/>
            </a:pPr>
            <a:r>
              <a:rPr lang="en-US" sz="900" b="1" dirty="0">
                <a:solidFill>
                  <a:srgbClr val="34D399"/>
                </a:solidFill>
                <a:latin typeface="Calibri" pitchFamily="34" charset="0"/>
                <a:ea typeface="Calibri" pitchFamily="34" charset="-122"/>
                <a:cs typeface="Calibri" pitchFamily="34" charset="-120"/>
              </a:rPr>
              <a:t>Cortex Agent</a:t>
            </a:r>
            <a:endParaRPr lang="en-US" sz="900" dirty="0"/>
          </a:p>
          <a:p>
            <a:pPr algn="ctr" indent="0" marL="0">
              <a:buNone/>
            </a:pPr>
            <a:r>
              <a:rPr lang="en-US" sz="900" b="1" dirty="0">
                <a:solidFill>
                  <a:srgbClr val="34D399"/>
                </a:solidFill>
                <a:latin typeface="Calibri" pitchFamily="34" charset="0"/>
                <a:ea typeface="Calibri" pitchFamily="34" charset="-122"/>
                <a:cs typeface="Calibri" pitchFamily="34" charset="-120"/>
              </a:rPr>
              <a:t>POC_PIPELINE_INTELLIGENCE_AGENT</a:t>
            </a:r>
            <a:endParaRPr lang="en-US" sz="900" dirty="0"/>
          </a:p>
        </p:txBody>
      </p:sp>
      <p:sp>
        <p:nvSpPr>
          <p:cNvPr id="46" name="Shape 44"/>
          <p:cNvSpPr/>
          <p:nvPr/>
        </p:nvSpPr>
        <p:spPr>
          <a:xfrm>
            <a:off x="2670048" y="4434840"/>
            <a:ext cx="0" cy="228600"/>
          </a:xfrm>
          <a:prstGeom prst="line">
            <a:avLst/>
          </a:prstGeom>
          <a:noFill/>
          <a:ln w="19050">
            <a:solidFill>
              <a:srgbClr val="34D399"/>
            </a:solidFill>
            <a:prstDash val="solid"/>
          </a:ln>
        </p:spPr>
      </p:sp>
      <p:sp>
        <p:nvSpPr>
          <p:cNvPr id="47" name="Shape 45"/>
          <p:cNvSpPr/>
          <p:nvPr/>
        </p:nvSpPr>
        <p:spPr>
          <a:xfrm>
            <a:off x="5897880" y="4434840"/>
            <a:ext cx="0" cy="228600"/>
          </a:xfrm>
          <a:prstGeom prst="line">
            <a:avLst/>
          </a:prstGeom>
          <a:noFill/>
          <a:ln w="19050">
            <a:solidFill>
              <a:srgbClr val="34D399"/>
            </a:solidFill>
            <a:prstDash val="solid"/>
          </a:ln>
        </p:spPr>
      </p:sp>
      <p:sp>
        <p:nvSpPr>
          <p:cNvPr id="48" name="Shape 46"/>
          <p:cNvSpPr/>
          <p:nvPr/>
        </p:nvSpPr>
        <p:spPr>
          <a:xfrm>
            <a:off x="2286000" y="4663440"/>
            <a:ext cx="4572000" cy="384048"/>
          </a:xfrm>
          <a:prstGeom prst="roundRect">
            <a:avLst>
              <a:gd name="adj" fmla="val 23810"/>
            </a:avLst>
          </a:prstGeom>
          <a:solidFill>
            <a:srgbClr val="0891B2"/>
          </a:solidFill>
          <a:ln/>
        </p:spPr>
      </p:sp>
      <p:sp>
        <p:nvSpPr>
          <p:cNvPr id="49" name="Text 47"/>
          <p:cNvSpPr/>
          <p:nvPr/>
        </p:nvSpPr>
        <p:spPr>
          <a:xfrm>
            <a:off x="2286000" y="4681728"/>
            <a:ext cx="45720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User — Natural Language Q&amp;A  ·  Dashboards  ·  Anomaly Alerts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891B2"/>
          </a:solidFill>
          <a:ln w="12700">
            <a:solidFill>
              <a:srgbClr val="0891B2"/>
            </a:solidFill>
            <a:prstDash val="solid"/>
          </a:ln>
        </p:spPr>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LIVE DEMO SQL — Metadata Queries  (Scenario 1)</a:t>
            </a:r>
            <a:endParaRPr lang="en-US" sz="2400" dirty="0"/>
          </a:p>
        </p:txBody>
      </p:sp>
      <p:sp>
        <p:nvSpPr>
          <p:cNvPr id="4" name="Shape 2"/>
          <p:cNvSpPr/>
          <p:nvPr/>
        </p:nvSpPr>
        <p:spPr>
          <a:xfrm>
            <a:off x="320040" y="914400"/>
            <a:ext cx="8503920" cy="1280160"/>
          </a:xfrm>
          <a:prstGeom prst="roundRect">
            <a:avLst>
              <a:gd name="adj" fmla="val 7143"/>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502920" y="969264"/>
            <a:ext cx="8229600" cy="274320"/>
          </a:xfrm>
          <a:prstGeom prst="rect">
            <a:avLst/>
          </a:prstGeom>
          <a:noFill/>
          <a:ln/>
        </p:spPr>
        <p:txBody>
          <a:bodyPr wrap="square" lIns="0" tIns="0" rIns="0" bIns="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"What does this field mean?"</a:t>
            </a:r>
            <a:endParaRPr lang="en-US" sz="1100" dirty="0"/>
          </a:p>
        </p:txBody>
      </p:sp>
      <p:sp>
        <p:nvSpPr>
          <p:cNvPr id="6" name="Shape 4"/>
          <p:cNvSpPr/>
          <p:nvPr/>
        </p:nvSpPr>
        <p:spPr>
          <a:xfrm>
            <a:off x="502920" y="1280160"/>
            <a:ext cx="4572000" cy="685800"/>
          </a:xfrm>
          <a:prstGeom prst="roundRect">
            <a:avLst>
              <a:gd name="adj" fmla="val 9333"/>
            </a:avLst>
          </a:prstGeom>
          <a:solidFill>
            <a:srgbClr val="0F172A"/>
          </a:solidFill>
          <a:ln/>
          <a:effectLst>
            <a:outerShdw sx="100000" sy="100000" kx="0" ky="0" algn="bl" rotWithShape="0" blurRad="50800" dist="25400" dir="2700000">
              <a:srgbClr val="000000">
                <a:alpha val="10000"/>
              </a:srgbClr>
            </a:outerShdw>
          </a:effectLst>
        </p:spPr>
      </p:sp>
      <p:sp>
        <p:nvSpPr>
          <p:cNvPr id="7" name="Text 5"/>
          <p:cNvSpPr/>
          <p:nvPr/>
        </p:nvSpPr>
        <p:spPr>
          <a:xfrm>
            <a:off x="594360" y="1307592"/>
            <a:ext cx="4389120" cy="621792"/>
          </a:xfrm>
          <a:prstGeom prst="rect">
            <a:avLst/>
          </a:prstGeom>
          <a:noFill/>
          <a:ln/>
        </p:spPr>
        <p:txBody>
          <a:bodyPr wrap="square" lIns="0" tIns="0" rIns="0" bIns="0" rtlCol="0" anchor="ctr"/>
          <a:lstStyle/>
          <a:p>
            <a:pPr indent="0" marL="0">
              <a:buNone/>
            </a:pPr>
            <a:r>
              <a:rPr lang="en-US" sz="800" dirty="0">
                <a:solidFill>
                  <a:srgbClr val="7DD3FC"/>
                </a:solidFill>
                <a:latin typeface="Courier New" pitchFamily="34" charset="0"/>
                <a:ea typeface="Courier New" pitchFamily="34" charset="-122"/>
                <a:cs typeface="Courier New" pitchFamily="34" charset="-120"/>
              </a:rPr>
              <a:t>SELECT COMM_DEV.SANDBOX.FN_EXPLAIN_FIELD('NPI');</a:t>
            </a:r>
            <a:endParaRPr lang="en-US" sz="800" dirty="0"/>
          </a:p>
        </p:txBody>
      </p:sp>
      <p:sp>
        <p:nvSpPr>
          <p:cNvPr id="8" name="Text 6"/>
          <p:cNvSpPr/>
          <p:nvPr/>
        </p:nvSpPr>
        <p:spPr>
          <a:xfrm>
            <a:off x="5212080" y="1280160"/>
            <a:ext cx="3474720" cy="685800"/>
          </a:xfrm>
          <a:prstGeom prst="rect">
            <a:avLst/>
          </a:prstGeom>
          <a:noFill/>
          <a:ln/>
        </p:spPr>
        <p:txBody>
          <a:bodyPr wrap="square" rtlCol="0" anchor="ctr"/>
          <a:lstStyle/>
          <a:p>
            <a:pPr indent="0" marL="0">
              <a:buNone/>
            </a:pPr>
            <a:r>
              <a:rPr lang="en-US" sz="950" dirty="0">
                <a:solidFill>
                  <a:srgbClr val="475569"/>
                </a:solidFill>
                <a:latin typeface="Calibri" pitchFamily="34" charset="0"/>
                <a:ea typeface="Calibri" pitchFamily="34" charset="-122"/>
                <a:cs typeface="Calibri" pitchFamily="34" charset="-120"/>
              </a:rPr>
              <a:t>💬  NPI appears in 446 tables. AI identifies it as National Provider Identifier — and flags it's stored as TEXT, FLOAT, and NUMBER. Free data-quality insight from metadata.</a:t>
            </a:r>
            <a:endParaRPr lang="en-US" sz="950" dirty="0"/>
          </a:p>
        </p:txBody>
      </p:sp>
      <p:sp>
        <p:nvSpPr>
          <p:cNvPr id="9" name="Shape 7"/>
          <p:cNvSpPr/>
          <p:nvPr/>
        </p:nvSpPr>
        <p:spPr>
          <a:xfrm>
            <a:off x="320040" y="2304288"/>
            <a:ext cx="8503920" cy="1280160"/>
          </a:xfrm>
          <a:prstGeom prst="roundRect">
            <a:avLst>
              <a:gd name="adj" fmla="val 7143"/>
            </a:avLst>
          </a:prstGeom>
          <a:solidFill>
            <a:srgbClr val="FFFFFF"/>
          </a:solidFill>
          <a:ln/>
          <a:effectLst>
            <a:outerShdw sx="100000" sy="100000" kx="0" ky="0" algn="bl" rotWithShape="0" blurRad="101600" dist="38100" dir="2700000">
              <a:srgbClr val="000000">
                <a:alpha val="12000"/>
              </a:srgbClr>
            </a:outerShdw>
          </a:effectLst>
        </p:spPr>
      </p:sp>
      <p:sp>
        <p:nvSpPr>
          <p:cNvPr id="10" name="Text 8"/>
          <p:cNvSpPr/>
          <p:nvPr/>
        </p:nvSpPr>
        <p:spPr>
          <a:xfrm>
            <a:off x="502920" y="2359152"/>
            <a:ext cx="8229600" cy="274320"/>
          </a:xfrm>
          <a:prstGeom prst="rect">
            <a:avLst/>
          </a:prstGeom>
          <a:noFill/>
          <a:ln/>
        </p:spPr>
        <p:txBody>
          <a:bodyPr wrap="square" lIns="0" tIns="0" rIns="0" bIns="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"Where does this table get its data?"</a:t>
            </a:r>
            <a:endParaRPr lang="en-US" sz="1100" dirty="0"/>
          </a:p>
        </p:txBody>
      </p:sp>
      <p:sp>
        <p:nvSpPr>
          <p:cNvPr id="11" name="Shape 9"/>
          <p:cNvSpPr/>
          <p:nvPr/>
        </p:nvSpPr>
        <p:spPr>
          <a:xfrm>
            <a:off x="502920" y="2670048"/>
            <a:ext cx="4572000" cy="685800"/>
          </a:xfrm>
          <a:prstGeom prst="roundRect">
            <a:avLst>
              <a:gd name="adj" fmla="val 9333"/>
            </a:avLst>
          </a:prstGeom>
          <a:solidFill>
            <a:srgbClr val="0F172A"/>
          </a:solidFill>
          <a:ln/>
          <a:effectLst>
            <a:outerShdw sx="100000" sy="100000" kx="0" ky="0" algn="bl" rotWithShape="0" blurRad="50800" dist="25400" dir="2700000">
              <a:srgbClr val="000000">
                <a:alpha val="10000"/>
              </a:srgbClr>
            </a:outerShdw>
          </a:effectLst>
        </p:spPr>
      </p:sp>
      <p:sp>
        <p:nvSpPr>
          <p:cNvPr id="12" name="Text 10"/>
          <p:cNvSpPr/>
          <p:nvPr/>
        </p:nvSpPr>
        <p:spPr>
          <a:xfrm>
            <a:off x="594360" y="2697480"/>
            <a:ext cx="4389120" cy="621792"/>
          </a:xfrm>
          <a:prstGeom prst="rect">
            <a:avLst/>
          </a:prstGeom>
          <a:noFill/>
          <a:ln/>
        </p:spPr>
        <p:txBody>
          <a:bodyPr wrap="square" lIns="0" tIns="0" rIns="0" bIns="0" rtlCol="0" anchor="ctr"/>
          <a:lstStyle/>
          <a:p>
            <a:pPr indent="0" marL="0">
              <a:buNone/>
            </a:pPr>
            <a:r>
              <a:rPr lang="en-US" sz="800" dirty="0">
                <a:solidFill>
                  <a:srgbClr val="7DD3FC"/>
                </a:solidFill>
                <a:latin typeface="Courier New" pitchFamily="34" charset="0"/>
                <a:ea typeface="Courier New" pitchFamily="34" charset="-122"/>
                <a:cs typeface="Courier New" pitchFamily="34" charset="-120"/>
              </a:rPr>
              <a:t>SELECT COMM_DEV.SANDBOX.FN_EXPLAIN_UPSTREAM('GOLD','TABLEAU_REPORTING_V');</a:t>
            </a:r>
            <a:endParaRPr lang="en-US" sz="800" dirty="0"/>
          </a:p>
        </p:txBody>
      </p:sp>
      <p:sp>
        <p:nvSpPr>
          <p:cNvPr id="13" name="Text 11"/>
          <p:cNvSpPr/>
          <p:nvPr/>
        </p:nvSpPr>
        <p:spPr>
          <a:xfrm>
            <a:off x="5212080" y="2670048"/>
            <a:ext cx="3474720" cy="685800"/>
          </a:xfrm>
          <a:prstGeom prst="rect">
            <a:avLst/>
          </a:prstGeom>
          <a:noFill/>
          <a:ln/>
        </p:spPr>
        <p:txBody>
          <a:bodyPr wrap="square" rtlCol="0" anchor="ctr"/>
          <a:lstStyle/>
          <a:p>
            <a:pPr indent="0" marL="0">
              <a:buNone/>
            </a:pPr>
            <a:r>
              <a:rPr lang="en-US" sz="950" dirty="0">
                <a:solidFill>
                  <a:srgbClr val="475569"/>
                </a:solidFill>
                <a:latin typeface="Calibri" pitchFamily="34" charset="0"/>
                <a:ea typeface="Calibri" pitchFamily="34" charset="-122"/>
                <a:cs typeface="Calibri" pitchFamily="34" charset="-120"/>
              </a:rPr>
              <a:t>💬  Traces full lineage from source to GOLD instantly. No manual mapping, no Slack thread.</a:t>
            </a:r>
            <a:endParaRPr lang="en-US" sz="950" dirty="0"/>
          </a:p>
        </p:txBody>
      </p:sp>
      <p:sp>
        <p:nvSpPr>
          <p:cNvPr id="14" name="Shape 12"/>
          <p:cNvSpPr/>
          <p:nvPr/>
        </p:nvSpPr>
        <p:spPr>
          <a:xfrm>
            <a:off x="320040" y="3694176"/>
            <a:ext cx="8503920" cy="1280160"/>
          </a:xfrm>
          <a:prstGeom prst="roundRect">
            <a:avLst>
              <a:gd name="adj" fmla="val 7143"/>
            </a:avLst>
          </a:prstGeom>
          <a:solidFill>
            <a:srgbClr val="FFFFFF"/>
          </a:solidFill>
          <a:ln/>
          <a:effectLst>
            <a:outerShdw sx="100000" sy="100000" kx="0" ky="0" algn="bl" rotWithShape="0" blurRad="101600" dist="38100" dir="2700000">
              <a:srgbClr val="000000">
                <a:alpha val="12000"/>
              </a:srgbClr>
            </a:outerShdw>
          </a:effectLst>
        </p:spPr>
      </p:sp>
      <p:sp>
        <p:nvSpPr>
          <p:cNvPr id="15" name="Text 13"/>
          <p:cNvSpPr/>
          <p:nvPr/>
        </p:nvSpPr>
        <p:spPr>
          <a:xfrm>
            <a:off x="502920" y="3749040"/>
            <a:ext cx="8229600" cy="274320"/>
          </a:xfrm>
          <a:prstGeom prst="rect">
            <a:avLst/>
          </a:prstGeom>
          <a:noFill/>
          <a:ln/>
        </p:spPr>
        <p:txBody>
          <a:bodyPr wrap="square" lIns="0" tIns="0" rIns="0" bIns="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"Which stale tables actually matter?" — ranked by impact</a:t>
            </a:r>
            <a:endParaRPr lang="en-US" sz="1100" dirty="0"/>
          </a:p>
        </p:txBody>
      </p:sp>
      <p:sp>
        <p:nvSpPr>
          <p:cNvPr id="16" name="Shape 14"/>
          <p:cNvSpPr/>
          <p:nvPr/>
        </p:nvSpPr>
        <p:spPr>
          <a:xfrm>
            <a:off x="502920" y="4059936"/>
            <a:ext cx="4572000" cy="685800"/>
          </a:xfrm>
          <a:prstGeom prst="roundRect">
            <a:avLst>
              <a:gd name="adj" fmla="val 9333"/>
            </a:avLst>
          </a:prstGeom>
          <a:solidFill>
            <a:srgbClr val="0F172A"/>
          </a:solidFill>
          <a:ln/>
          <a:effectLst>
            <a:outerShdw sx="100000" sy="100000" kx="0" ky="0" algn="bl" rotWithShape="0" blurRad="50800" dist="25400" dir="2700000">
              <a:srgbClr val="000000">
                <a:alpha val="10000"/>
              </a:srgbClr>
            </a:outerShdw>
          </a:effectLst>
        </p:spPr>
      </p:sp>
      <p:sp>
        <p:nvSpPr>
          <p:cNvPr id="17" name="Text 15"/>
          <p:cNvSpPr/>
          <p:nvPr/>
        </p:nvSpPr>
        <p:spPr>
          <a:xfrm>
            <a:off x="594360" y="4087368"/>
            <a:ext cx="4389120" cy="621792"/>
          </a:xfrm>
          <a:prstGeom prst="rect">
            <a:avLst/>
          </a:prstGeom>
          <a:noFill/>
          <a:ln/>
        </p:spPr>
        <p:txBody>
          <a:bodyPr wrap="square" lIns="0" tIns="0" rIns="0" bIns="0" rtlCol="0" anchor="ctr"/>
          <a:lstStyle/>
          <a:p>
            <a:pPr indent="0" marL="0">
              <a:buNone/>
            </a:pPr>
            <a:r>
              <a:rPr lang="en-US" sz="800" dirty="0">
                <a:solidFill>
                  <a:srgbClr val="7DD3FC"/>
                </a:solidFill>
                <a:latin typeface="Courier New" pitchFamily="34" charset="0"/>
                <a:ea typeface="Courier New" pitchFamily="34" charset="-122"/>
                <a:cs typeface="Courier New" pitchFamily="34" charset="-120"/>
              </a:rPr>
              <a:t>SELECT SCHEMA_NAME, TABLE_NAME, DAYS_SINCE_REFRESH,</a:t>
            </a:r>
            <a:endParaRPr lang="en-US" sz="800" dirty="0"/>
          </a:p>
          <a:p>
            <a:pPr indent="0" marL="0">
              <a:buNone/>
            </a:pPr>
            <a:r>
              <a:rPr lang="en-US" sz="800" dirty="0">
                <a:solidFill>
                  <a:srgbClr val="7DD3FC"/>
                </a:solidFill>
                <a:latin typeface="Courier New" pitchFamily="34" charset="0"/>
                <a:ea typeface="Courier New" pitchFamily="34" charset="-122"/>
                <a:cs typeface="Courier New" pitchFamily="34" charset="-120"/>
              </a:rPr>
              <a:t>       DOWNSTREAM_OBJECT_COUNT, AI_STALENESS_ASSESSMENT</a:t>
            </a:r>
            <a:endParaRPr lang="en-US" sz="800" dirty="0"/>
          </a:p>
          <a:p>
            <a:pPr indent="0" marL="0">
              <a:buNone/>
            </a:pPr>
            <a:r>
              <a:rPr lang="en-US" sz="800" dirty="0">
                <a:solidFill>
                  <a:srgbClr val="7DD3FC"/>
                </a:solidFill>
                <a:latin typeface="Courier New" pitchFamily="34" charset="0"/>
                <a:ea typeface="Courier New" pitchFamily="34" charset="-122"/>
                <a:cs typeface="Courier New" pitchFamily="34" charset="-120"/>
              </a:rPr>
              <a:t>FROM COMM_DEV.SANDBOX.POC_AI_STALE_TABLE_REPORT</a:t>
            </a:r>
            <a:endParaRPr lang="en-US" sz="800" dirty="0"/>
          </a:p>
          <a:p>
            <a:pPr indent="0" marL="0">
              <a:buNone/>
            </a:pPr>
            <a:r>
              <a:rPr lang="en-US" sz="800" dirty="0">
                <a:solidFill>
                  <a:srgbClr val="7DD3FC"/>
                </a:solidFill>
                <a:latin typeface="Courier New" pitchFamily="34" charset="0"/>
                <a:ea typeface="Courier New" pitchFamily="34" charset="-122"/>
                <a:cs typeface="Courier New" pitchFamily="34" charset="-120"/>
              </a:rPr>
              <a:t>ORDER BY DOWNSTREAM_OBJECT_COUNT DESC;</a:t>
            </a:r>
            <a:endParaRPr lang="en-US" sz="800" dirty="0"/>
          </a:p>
        </p:txBody>
      </p:sp>
      <p:sp>
        <p:nvSpPr>
          <p:cNvPr id="18" name="Text 16"/>
          <p:cNvSpPr/>
          <p:nvPr/>
        </p:nvSpPr>
        <p:spPr>
          <a:xfrm>
            <a:off x="5212080" y="4059936"/>
            <a:ext cx="3474720" cy="685800"/>
          </a:xfrm>
          <a:prstGeom prst="rect">
            <a:avLst/>
          </a:prstGeom>
          <a:noFill/>
          <a:ln/>
        </p:spPr>
        <p:txBody>
          <a:bodyPr wrap="square" rtlCol="0" anchor="ctr"/>
          <a:lstStyle/>
          <a:p>
            <a:pPr indent="0" marL="0">
              <a:buNone/>
            </a:pPr>
            <a:r>
              <a:rPr lang="en-US" sz="950" dirty="0">
                <a:solidFill>
                  <a:srgbClr val="475569"/>
                </a:solidFill>
                <a:latin typeface="Calibri" pitchFamily="34" charset="0"/>
                <a:ea typeface="Calibri" pitchFamily="34" charset="-122"/>
                <a:cs typeface="Calibri" pitchFamily="34" charset="-120"/>
              </a:rPr>
              <a:t>💬  Finds AND ranks stale tables by downstream dependents — so we know which staleness actually matters. AI gives risk assessment + recommended action per table.</a:t>
            </a:r>
            <a:endParaRPr lang="en-US" sz="950" dirty="0"/>
          </a:p>
        </p:txBody>
      </p:sp>
      <p:sp>
        <p:nvSpPr>
          <p:cNvPr id="19" name="Shape 17"/>
          <p:cNvSpPr/>
          <p:nvPr/>
        </p:nvSpPr>
        <p:spPr>
          <a:xfrm>
            <a:off x="320040" y="5074920"/>
            <a:ext cx="8503920" cy="384048"/>
          </a:xfrm>
          <a:prstGeom prst="roundRect">
            <a:avLst>
              <a:gd name="adj" fmla="val 19048"/>
            </a:avLst>
          </a:prstGeom>
          <a:solidFill>
            <a:srgbClr val="EFF6FF"/>
          </a:solidFill>
          <a:ln/>
        </p:spPr>
      </p:sp>
      <p:sp>
        <p:nvSpPr>
          <p:cNvPr id="20" name="Shape 18"/>
          <p:cNvSpPr/>
          <p:nvPr/>
        </p:nvSpPr>
        <p:spPr>
          <a:xfrm>
            <a:off x="502920" y="5111496"/>
            <a:ext cx="4023360" cy="274320"/>
          </a:xfrm>
          <a:prstGeom prst="roundRect">
            <a:avLst>
              <a:gd name="adj" fmla="val 16667"/>
            </a:avLst>
          </a:prstGeom>
          <a:solidFill>
            <a:srgbClr val="0F172A"/>
          </a:solidFill>
          <a:ln/>
        </p:spPr>
      </p:sp>
      <p:sp>
        <p:nvSpPr>
          <p:cNvPr id="21" name="Text 19"/>
          <p:cNvSpPr/>
          <p:nvPr/>
        </p:nvSpPr>
        <p:spPr>
          <a:xfrm>
            <a:off x="548640" y="5129784"/>
            <a:ext cx="3931920" cy="237744"/>
          </a:xfrm>
          <a:prstGeom prst="rect">
            <a:avLst/>
          </a:prstGeom>
          <a:noFill/>
          <a:ln/>
        </p:spPr>
        <p:txBody>
          <a:bodyPr wrap="square" lIns="0" tIns="0" rIns="0" bIns="0" rtlCol="0" anchor="ctr"/>
          <a:lstStyle/>
          <a:p>
            <a:pPr indent="0" marL="0">
              <a:buNone/>
            </a:pPr>
            <a:r>
              <a:rPr lang="en-US" sz="800" dirty="0">
                <a:solidFill>
                  <a:srgbClr val="7DD3FC"/>
                </a:solidFill>
                <a:latin typeface="Courier New" pitchFamily="34" charset="0"/>
                <a:ea typeface="Courier New" pitchFamily="34" charset="-122"/>
                <a:cs typeface="Courier New" pitchFamily="34" charset="-120"/>
              </a:rPr>
              <a:t>select * from COMM_DEV.SANDBOX.POC_FIELD_CATALOG;</a:t>
            </a:r>
            <a:endParaRPr lang="en-US" sz="800" dirty="0"/>
          </a:p>
        </p:txBody>
      </p:sp>
      <p:sp>
        <p:nvSpPr>
          <p:cNvPr id="22" name="Text 20"/>
          <p:cNvSpPr/>
          <p:nvPr/>
        </p:nvSpPr>
        <p:spPr>
          <a:xfrm>
            <a:off x="4663440" y="5120640"/>
            <a:ext cx="4023360" cy="274320"/>
          </a:xfrm>
          <a:prstGeom prst="rect">
            <a:avLst/>
          </a:prstGeom>
          <a:noFill/>
          <a:ln/>
        </p:spPr>
        <p:txBody>
          <a:bodyPr wrap="square" rtlCol="0" anchor="ctr"/>
          <a:lstStyle/>
          <a:p>
            <a:pPr indent="0" marL="0">
              <a:buNone/>
            </a:pPr>
            <a:r>
              <a:rPr lang="en-US" sz="950" dirty="0">
                <a:solidFill>
                  <a:srgbClr val="475569"/>
                </a:solidFill>
                <a:latin typeface="Calibri" pitchFamily="34" charset="0"/>
                <a:ea typeface="Calibri" pitchFamily="34" charset="-122"/>
                <a:cs typeface="Calibri" pitchFamily="34" charset="-120"/>
              </a:rPr>
              <a:t>Browse the full field catalog — all columns, types, descriptions, across every table.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C3AED"/>
          </a:solidFill>
          <a:ln w="12700">
            <a:solidFill>
              <a:srgbClr val="7C3AED"/>
            </a:solidFill>
            <a:prstDash val="solid"/>
          </a:ln>
        </p:spPr>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LIVE DEMO SQL — Anomaly Queries  (Scenario 2)</a:t>
            </a:r>
            <a:endParaRPr lang="en-US" sz="2400" dirty="0"/>
          </a:p>
        </p:txBody>
      </p:sp>
      <p:sp>
        <p:nvSpPr>
          <p:cNvPr id="4" name="Shape 2"/>
          <p:cNvSpPr/>
          <p:nvPr/>
        </p:nvSpPr>
        <p:spPr>
          <a:xfrm>
            <a:off x="320040" y="960120"/>
            <a:ext cx="8503920" cy="1691640"/>
          </a:xfrm>
          <a:prstGeom prst="roundRect">
            <a:avLst>
              <a:gd name="adj" fmla="val 5405"/>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502920" y="1033272"/>
            <a:ext cx="8229600" cy="292608"/>
          </a:xfrm>
          <a:prstGeom prst="rect">
            <a:avLst/>
          </a:prstGeom>
          <a:noFill/>
          <a:ln/>
        </p:spPr>
        <p:txBody>
          <a:bodyPr wrap="square" lIns="0" tIns="0" rIns="0" bIns="0" rtlCol="0" anchor="ctr"/>
          <a:lstStyle/>
          <a:p>
            <a:pPr indent="0" marL="0">
              <a:buNone/>
            </a:pPr>
            <a:r>
              <a:rPr lang="en-US" sz="1200" b="1" dirty="0">
                <a:solidFill>
                  <a:srgbClr val="0D1B3E"/>
                </a:solidFill>
                <a:latin typeface="Calibri" pitchFamily="34" charset="0"/>
                <a:ea typeface="Calibri" pitchFamily="34" charset="-122"/>
                <a:cs typeface="Calibri" pitchFamily="34" charset="-120"/>
              </a:rPr>
              <a:t>The summary — anomaly counts + severity by type</a:t>
            </a:r>
            <a:endParaRPr lang="en-US" sz="1200" dirty="0"/>
          </a:p>
        </p:txBody>
      </p:sp>
      <p:sp>
        <p:nvSpPr>
          <p:cNvPr id="6" name="Shape 4"/>
          <p:cNvSpPr/>
          <p:nvPr/>
        </p:nvSpPr>
        <p:spPr>
          <a:xfrm>
            <a:off x="502920" y="1371600"/>
            <a:ext cx="4754880" cy="896112"/>
          </a:xfrm>
          <a:prstGeom prst="roundRect">
            <a:avLst>
              <a:gd name="adj" fmla="val 8163"/>
            </a:avLst>
          </a:prstGeom>
          <a:solidFill>
            <a:srgbClr val="0F172A"/>
          </a:solidFill>
          <a:ln/>
          <a:effectLst>
            <a:outerShdw sx="100000" sy="100000" kx="0" ky="0" algn="bl" rotWithShape="0" blurRad="50800" dist="25400" dir="2700000">
              <a:srgbClr val="000000">
                <a:alpha val="10000"/>
              </a:srgbClr>
            </a:outerShdw>
          </a:effectLst>
        </p:spPr>
      </p:sp>
      <p:sp>
        <p:nvSpPr>
          <p:cNvPr id="7" name="Text 5"/>
          <p:cNvSpPr/>
          <p:nvPr/>
        </p:nvSpPr>
        <p:spPr>
          <a:xfrm>
            <a:off x="594360" y="1399032"/>
            <a:ext cx="4572000" cy="841248"/>
          </a:xfrm>
          <a:prstGeom prst="rect">
            <a:avLst/>
          </a:prstGeom>
          <a:noFill/>
          <a:ln/>
        </p:spPr>
        <p:txBody>
          <a:bodyPr wrap="square" lIns="0" tIns="0" rIns="0" bIns="0" rtlCol="0" anchor="ctr"/>
          <a:lstStyle/>
          <a:p>
            <a:pPr indent="0" marL="0">
              <a:buNone/>
            </a:pPr>
            <a:r>
              <a:rPr lang="en-US" sz="850" dirty="0">
                <a:solidFill>
                  <a:srgbClr val="7DD3FC"/>
                </a:solidFill>
                <a:latin typeface="Courier New" pitchFamily="34" charset="0"/>
                <a:ea typeface="Courier New" pitchFamily="34" charset="-122"/>
                <a:cs typeface="Courier New" pitchFamily="34" charset="-120"/>
              </a:rPr>
              <a:t>SELECT ANOMALY_TYPE, COUNT(*) AS COUNT,</a:t>
            </a:r>
            <a:endParaRPr lang="en-US" sz="850" dirty="0"/>
          </a:p>
          <a:p>
            <a:pPr indent="0" marL="0">
              <a:buNone/>
            </a:pPr>
            <a:r>
              <a:rPr lang="en-US" sz="850" dirty="0">
                <a:solidFill>
                  <a:srgbClr val="7DD3FC"/>
                </a:solidFill>
                <a:latin typeface="Courier New" pitchFamily="34" charset="0"/>
                <a:ea typeface="Courier New" pitchFamily="34" charset="-122"/>
                <a:cs typeface="Courier New" pitchFamily="34" charset="-120"/>
              </a:rPr>
              <a:t>       ROUND(MAX(SEVERITY_Z),1) AS MAX_SEVERITY</a:t>
            </a:r>
            <a:endParaRPr lang="en-US" sz="850" dirty="0"/>
          </a:p>
          <a:p>
            <a:pPr indent="0" marL="0">
              <a:buNone/>
            </a:pPr>
            <a:r>
              <a:rPr lang="en-US" sz="850" dirty="0">
                <a:solidFill>
                  <a:srgbClr val="7DD3FC"/>
                </a:solidFill>
                <a:latin typeface="Courier New" pitchFamily="34" charset="0"/>
                <a:ea typeface="Courier New" pitchFamily="34" charset="-122"/>
                <a:cs typeface="Courier New" pitchFamily="34" charset="-120"/>
              </a:rPr>
              <a:t>FROM COMM_DEV.SANDBOX.POC_ANOMALY_FINDINGS</a:t>
            </a:r>
            <a:endParaRPr lang="en-US" sz="850" dirty="0"/>
          </a:p>
          <a:p>
            <a:pPr indent="0" marL="0">
              <a:buNone/>
            </a:pPr>
            <a:r>
              <a:rPr lang="en-US" sz="850" dirty="0">
                <a:solidFill>
                  <a:srgbClr val="7DD3FC"/>
                </a:solidFill>
                <a:latin typeface="Courier New" pitchFamily="34" charset="0"/>
                <a:ea typeface="Courier New" pitchFamily="34" charset="-122"/>
                <a:cs typeface="Courier New" pitchFamily="34" charset="-120"/>
              </a:rPr>
              <a:t>GROUP BY 1 ORDER BY 2 DESC;</a:t>
            </a:r>
            <a:endParaRPr lang="en-US" sz="850" dirty="0"/>
          </a:p>
        </p:txBody>
      </p:sp>
      <p:sp>
        <p:nvSpPr>
          <p:cNvPr id="8" name="Text 6"/>
          <p:cNvSpPr/>
          <p:nvPr/>
        </p:nvSpPr>
        <p:spPr>
          <a:xfrm>
            <a:off x="5394960" y="1371600"/>
            <a:ext cx="3291840" cy="896112"/>
          </a:xfrm>
          <a:prstGeom prst="rect">
            <a:avLst/>
          </a:prstGeom>
          <a:noFill/>
          <a:ln/>
        </p:spPr>
        <p:txBody>
          <a:bodyPr wrap="square" rtlCol="0" anchor="ctr"/>
          <a:lstStyle/>
          <a:p>
            <a:pPr indent="0" marL="0">
              <a:buNone/>
            </a:pPr>
            <a:r>
              <a:rPr lang="en-US" sz="950" dirty="0">
                <a:solidFill>
                  <a:srgbClr val="475569"/>
                </a:solidFill>
                <a:latin typeface="Calibri" pitchFamily="34" charset="0"/>
                <a:ea typeface="Calibri" pitchFamily="34" charset="-122"/>
                <a:cs typeface="Calibri" pitchFamily="34" charset="-120"/>
              </a:rPr>
              <a:t>💬  Instantly see which anomaly types are most frequent and most severe. No manual audit needed.</a:t>
            </a:r>
            <a:endParaRPr lang="en-US" sz="950" dirty="0"/>
          </a:p>
        </p:txBody>
      </p:sp>
      <p:sp>
        <p:nvSpPr>
          <p:cNvPr id="9" name="Shape 7"/>
          <p:cNvSpPr/>
          <p:nvPr/>
        </p:nvSpPr>
        <p:spPr>
          <a:xfrm>
            <a:off x="320040" y="2834640"/>
            <a:ext cx="8503920" cy="1691640"/>
          </a:xfrm>
          <a:prstGeom prst="roundRect">
            <a:avLst>
              <a:gd name="adj" fmla="val 5405"/>
            </a:avLst>
          </a:prstGeom>
          <a:solidFill>
            <a:srgbClr val="FFFFFF"/>
          </a:solidFill>
          <a:ln/>
          <a:effectLst>
            <a:outerShdw sx="100000" sy="100000" kx="0" ky="0" algn="bl" rotWithShape="0" blurRad="101600" dist="38100" dir="2700000">
              <a:srgbClr val="000000">
                <a:alpha val="12000"/>
              </a:srgbClr>
            </a:outerShdw>
          </a:effectLst>
        </p:spPr>
      </p:sp>
      <p:sp>
        <p:nvSpPr>
          <p:cNvPr id="10" name="Text 8"/>
          <p:cNvSpPr/>
          <p:nvPr/>
        </p:nvSpPr>
        <p:spPr>
          <a:xfrm>
            <a:off x="502920" y="2907792"/>
            <a:ext cx="8229600" cy="292608"/>
          </a:xfrm>
          <a:prstGeom prst="rect">
            <a:avLst/>
          </a:prstGeom>
          <a:noFill/>
          <a:ln/>
        </p:spPr>
        <p:txBody>
          <a:bodyPr wrap="square" lIns="0" tIns="0" rIns="0" bIns="0" rtlCol="0" anchor="ctr"/>
          <a:lstStyle/>
          <a:p>
            <a:pPr indent="0" marL="0">
              <a:buNone/>
            </a:pPr>
            <a:r>
              <a:rPr lang="en-US" sz="1200" b="1" dirty="0">
                <a:solidFill>
                  <a:srgbClr val="0D1B3E"/>
                </a:solidFill>
                <a:latin typeface="Calibri" pitchFamily="34" charset="0"/>
                <a:ea typeface="Calibri" pitchFamily="34" charset="-122"/>
                <a:cs typeface="Calibri" pitchFamily="34" charset="-120"/>
              </a:rPr>
              <a:t>AI explains each anomaly — non-SILENT_GAP findings by severity</a:t>
            </a:r>
            <a:endParaRPr lang="en-US" sz="1200" dirty="0"/>
          </a:p>
        </p:txBody>
      </p:sp>
      <p:sp>
        <p:nvSpPr>
          <p:cNvPr id="11" name="Shape 9"/>
          <p:cNvSpPr/>
          <p:nvPr/>
        </p:nvSpPr>
        <p:spPr>
          <a:xfrm>
            <a:off x="502920" y="3246120"/>
            <a:ext cx="4754880" cy="896112"/>
          </a:xfrm>
          <a:prstGeom prst="roundRect">
            <a:avLst>
              <a:gd name="adj" fmla="val 8163"/>
            </a:avLst>
          </a:prstGeom>
          <a:solidFill>
            <a:srgbClr val="0F172A"/>
          </a:solidFill>
          <a:ln/>
          <a:effectLst>
            <a:outerShdw sx="100000" sy="100000" kx="0" ky="0" algn="bl" rotWithShape="0" blurRad="50800" dist="25400" dir="2700000">
              <a:srgbClr val="000000">
                <a:alpha val="10000"/>
              </a:srgbClr>
            </a:outerShdw>
          </a:effectLst>
        </p:spPr>
      </p:sp>
      <p:sp>
        <p:nvSpPr>
          <p:cNvPr id="12" name="Text 10"/>
          <p:cNvSpPr/>
          <p:nvPr/>
        </p:nvSpPr>
        <p:spPr>
          <a:xfrm>
            <a:off x="594360" y="3273552"/>
            <a:ext cx="4572000" cy="841248"/>
          </a:xfrm>
          <a:prstGeom prst="rect">
            <a:avLst/>
          </a:prstGeom>
          <a:noFill/>
          <a:ln/>
        </p:spPr>
        <p:txBody>
          <a:bodyPr wrap="square" lIns="0" tIns="0" rIns="0" bIns="0" rtlCol="0" anchor="ctr"/>
          <a:lstStyle/>
          <a:p>
            <a:pPr indent="0" marL="0">
              <a:buNone/>
            </a:pPr>
            <a:r>
              <a:rPr lang="en-US" sz="850" dirty="0">
                <a:solidFill>
                  <a:srgbClr val="7DD3FC"/>
                </a:solidFill>
                <a:latin typeface="Courier New" pitchFamily="34" charset="0"/>
                <a:ea typeface="Courier New" pitchFamily="34" charset="-122"/>
                <a:cs typeface="Courier New" pitchFamily="34" charset="-120"/>
              </a:rPr>
              <a:t>SELECT METRIC_NAME, COUNTRY, ACTIVITY_DATE,</a:t>
            </a:r>
            <a:endParaRPr lang="en-US" sz="850" dirty="0"/>
          </a:p>
          <a:p>
            <a:pPr indent="0" marL="0">
              <a:buNone/>
            </a:pPr>
            <a:r>
              <a:rPr lang="en-US" sz="850" dirty="0">
                <a:solidFill>
                  <a:srgbClr val="7DD3FC"/>
                </a:solidFill>
                <a:latin typeface="Courier New" pitchFamily="34" charset="0"/>
                <a:ea typeface="Courier New" pitchFamily="34" charset="-122"/>
                <a:cs typeface="Courier New" pitchFamily="34" charset="-120"/>
              </a:rPr>
              <a:t>       ANOMALY_TYPE, SEVERITY_Z, AI_EXPLANATION</a:t>
            </a:r>
            <a:endParaRPr lang="en-US" sz="850" dirty="0"/>
          </a:p>
          <a:p>
            <a:pPr indent="0" marL="0">
              <a:buNone/>
            </a:pPr>
            <a:r>
              <a:rPr lang="en-US" sz="850" dirty="0">
                <a:solidFill>
                  <a:srgbClr val="7DD3FC"/>
                </a:solidFill>
                <a:latin typeface="Courier New" pitchFamily="34" charset="0"/>
                <a:ea typeface="Courier New" pitchFamily="34" charset="-122"/>
                <a:cs typeface="Courier New" pitchFamily="34" charset="-120"/>
              </a:rPr>
              <a:t>FROM COMM_DEV.SANDBOX.POC_AI_ANOMALY_REPORT</a:t>
            </a:r>
            <a:endParaRPr lang="en-US" sz="850" dirty="0"/>
          </a:p>
          <a:p>
            <a:pPr indent="0" marL="0">
              <a:buNone/>
            </a:pPr>
            <a:r>
              <a:rPr lang="en-US" sz="850" dirty="0">
                <a:solidFill>
                  <a:srgbClr val="7DD3FC"/>
                </a:solidFill>
                <a:latin typeface="Courier New" pitchFamily="34" charset="0"/>
                <a:ea typeface="Courier New" pitchFamily="34" charset="-122"/>
                <a:cs typeface="Courier New" pitchFamily="34" charset="-120"/>
              </a:rPr>
              <a:t>WHERE ANOMALY_TYPE &lt;&gt; 'SILENT_GAP'</a:t>
            </a:r>
            <a:endParaRPr lang="en-US" sz="850" dirty="0"/>
          </a:p>
          <a:p>
            <a:pPr indent="0" marL="0">
              <a:buNone/>
            </a:pPr>
            <a:r>
              <a:rPr lang="en-US" sz="850" dirty="0">
                <a:solidFill>
                  <a:srgbClr val="7DD3FC"/>
                </a:solidFill>
                <a:latin typeface="Courier New" pitchFamily="34" charset="0"/>
                <a:ea typeface="Courier New" pitchFamily="34" charset="-122"/>
                <a:cs typeface="Courier New" pitchFamily="34" charset="-120"/>
              </a:rPr>
              <a:t>ORDER BY SEVERITY_Z DESC;</a:t>
            </a:r>
            <a:endParaRPr lang="en-US" sz="850" dirty="0"/>
          </a:p>
        </p:txBody>
      </p:sp>
      <p:sp>
        <p:nvSpPr>
          <p:cNvPr id="13" name="Text 11"/>
          <p:cNvSpPr/>
          <p:nvPr/>
        </p:nvSpPr>
        <p:spPr>
          <a:xfrm>
            <a:off x="5394960" y="3246120"/>
            <a:ext cx="3291840" cy="896112"/>
          </a:xfrm>
          <a:prstGeom prst="rect">
            <a:avLst/>
          </a:prstGeom>
          <a:noFill/>
          <a:ln/>
        </p:spPr>
        <p:txBody>
          <a:bodyPr wrap="square" rtlCol="0" anchor="ctr"/>
          <a:lstStyle/>
          <a:p>
            <a:pPr indent="0" marL="0">
              <a:buNone/>
            </a:pPr>
            <a:r>
              <a:rPr lang="en-US" sz="950" dirty="0">
                <a:solidFill>
                  <a:srgbClr val="475569"/>
                </a:solidFill>
                <a:latin typeface="Calibri" pitchFamily="34" charset="0"/>
                <a:ea typeface="Calibri" pitchFamily="34" charset="-122"/>
                <a:cs typeface="Calibri" pitchFamily="34" charset="-120"/>
              </a:rPr>
              <a:t>💬  AI writes plain-English explanation + likely cause. e.g. 'Speaker Program tier 1-3 HCPs — US, Feb 18 2026: 50 records vs expected 4, severity 15.5 (~12x normal).'</a:t>
            </a:r>
            <a:endParaRPr lang="en-US" sz="950" dirty="0"/>
          </a:p>
        </p:txBody>
      </p:sp>
      <p:sp>
        <p:nvSpPr>
          <p:cNvPr id="14" name="Shape 12"/>
          <p:cNvSpPr/>
          <p:nvPr/>
        </p:nvSpPr>
        <p:spPr>
          <a:xfrm>
            <a:off x="320040" y="4754880"/>
            <a:ext cx="8503920" cy="292608"/>
          </a:xfrm>
          <a:prstGeom prst="roundRect">
            <a:avLst>
              <a:gd name="adj" fmla="val 25000"/>
            </a:avLst>
          </a:prstGeom>
          <a:solidFill>
            <a:srgbClr val="F3F0FF"/>
          </a:solidFill>
          <a:ln/>
        </p:spPr>
      </p:sp>
      <p:sp>
        <p:nvSpPr>
          <p:cNvPr id="15" name="Text 13"/>
          <p:cNvSpPr/>
          <p:nvPr/>
        </p:nvSpPr>
        <p:spPr>
          <a:xfrm>
            <a:off x="502920" y="4773168"/>
            <a:ext cx="8229600" cy="256032"/>
          </a:xfrm>
          <a:prstGeom prst="rect">
            <a:avLst/>
          </a:prstGeom>
          <a:noFill/>
          <a:ln/>
        </p:spPr>
        <p:txBody>
          <a:bodyPr wrap="square" rtlCol="0" anchor="ctr"/>
          <a:lstStyle/>
          <a:p>
            <a:pPr indent="0" marL="0">
              <a:buNone/>
            </a:pPr>
            <a:r>
              <a:rPr lang="en-US" sz="1000" dirty="0">
                <a:solidFill>
                  <a:srgbClr val="7C3AED"/>
                </a:solidFill>
                <a:latin typeface="Calibri" pitchFamily="34" charset="0"/>
                <a:ea typeface="Calibri" pitchFamily="34" charset="-122"/>
                <a:cs typeface="Calibri" pitchFamily="34" charset="-120"/>
              </a:rPr>
              <a:t>🎯  Real find: system learned Speaker Program anomaly at severity 15.5 — we never wrote a rule for this metric.</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3E"/>
        </a:solidFill>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End-to-End Architecture</a:t>
            </a:r>
            <a:endParaRPr lang="en-US" sz="3200" dirty="0"/>
          </a:p>
        </p:txBody>
      </p:sp>
      <p:sp>
        <p:nvSpPr>
          <p:cNvPr id="3" name="Shape 1"/>
          <p:cNvSpPr/>
          <p:nvPr/>
        </p:nvSpPr>
        <p:spPr>
          <a:xfrm>
            <a:off x="457200" y="731520"/>
            <a:ext cx="8229600" cy="0"/>
          </a:xfrm>
          <a:prstGeom prst="line">
            <a:avLst/>
          </a:prstGeom>
          <a:noFill/>
          <a:ln w="19050">
            <a:solidFill>
              <a:srgbClr val="0891B2"/>
            </a:solidFill>
            <a:prstDash val="solid"/>
          </a:ln>
        </p:spPr>
      </p:sp>
      <p:sp>
        <p:nvSpPr>
          <p:cNvPr id="4" name="Text 2"/>
          <p:cNvSpPr/>
          <p:nvPr/>
        </p:nvSpPr>
        <p:spPr>
          <a:xfrm>
            <a:off x="274320" y="822960"/>
            <a:ext cx="2011680" cy="274320"/>
          </a:xfrm>
          <a:prstGeom prst="rect">
            <a:avLst/>
          </a:prstGeom>
          <a:noFill/>
          <a:ln/>
        </p:spPr>
        <p:txBody>
          <a:bodyPr wrap="square" rtlCol="0" anchor="ctr"/>
          <a:lstStyle/>
          <a:p>
            <a:pPr indent="0" marL="0">
              <a:buNone/>
            </a:pPr>
            <a:r>
              <a:rPr lang="en-US" sz="900" b="1" spc="200" kern="0" dirty="0">
                <a:solidFill>
                  <a:srgbClr val="38BDF8"/>
                </a:solidFill>
                <a:latin typeface="Calibri" pitchFamily="34" charset="0"/>
                <a:ea typeface="Calibri" pitchFamily="34" charset="-122"/>
                <a:cs typeface="Calibri" pitchFamily="34" charset="-120"/>
              </a:rPr>
              <a:t>DATA SOURCES</a:t>
            </a:r>
            <a:endParaRPr lang="en-US" sz="900" dirty="0"/>
          </a:p>
        </p:txBody>
      </p:sp>
      <p:sp>
        <p:nvSpPr>
          <p:cNvPr id="5" name="Shape 3"/>
          <p:cNvSpPr/>
          <p:nvPr/>
        </p:nvSpPr>
        <p:spPr>
          <a:xfrm>
            <a:off x="274320" y="1115568"/>
            <a:ext cx="1417320" cy="594360"/>
          </a:xfrm>
          <a:prstGeom prst="roundRect">
            <a:avLst>
              <a:gd name="adj" fmla="val 12308"/>
            </a:avLst>
          </a:prstGeom>
          <a:solidFill>
            <a:srgbClr val="1B2F5E"/>
          </a:solidFill>
          <a:ln/>
          <a:effectLst>
            <a:outerShdw sx="100000" sy="100000" kx="0" ky="0" algn="bl" rotWithShape="0" blurRad="101600" dist="38100" dir="2700000">
              <a:srgbClr val="000000">
                <a:alpha val="12000"/>
              </a:srgbClr>
            </a:outerShdw>
          </a:effectLst>
        </p:spPr>
      </p:sp>
      <p:sp>
        <p:nvSpPr>
          <p:cNvPr id="6" name="Text 4"/>
          <p:cNvSpPr/>
          <p:nvPr/>
        </p:nvSpPr>
        <p:spPr>
          <a:xfrm>
            <a:off x="320040" y="1133856"/>
            <a:ext cx="1325880" cy="548640"/>
          </a:xfrm>
          <a:prstGeom prst="rect">
            <a:avLst/>
          </a:prstGeom>
          <a:noFill/>
          <a:ln/>
        </p:spPr>
        <p:txBody>
          <a:bodyPr wrap="square" rtlCol="0" anchor="ctr"/>
          <a:lstStyle/>
          <a:p>
            <a:pPr algn="ctr" indent="0" marL="0">
              <a:buNone/>
            </a:pPr>
            <a:r>
              <a:rPr lang="en-US" sz="800" b="1" dirty="0">
                <a:solidFill>
                  <a:srgbClr val="38BDF8"/>
                </a:solidFill>
                <a:latin typeface="Calibri" pitchFamily="34" charset="0"/>
                <a:ea typeface="Calibri" pitchFamily="34" charset="-122"/>
                <a:cs typeface="Calibri" pitchFamily="34" charset="-120"/>
              </a:rPr>
              <a:t>GOLD</a:t>
            </a:r>
            <a:endParaRPr lang="en-US" sz="800" dirty="0"/>
          </a:p>
          <a:p>
            <a:pPr algn="ctr" indent="0" marL="0">
              <a:buNone/>
            </a:pPr>
            <a:r>
              <a:rPr lang="en-US" sz="800" b="1" dirty="0">
                <a:solidFill>
                  <a:srgbClr val="38BDF8"/>
                </a:solidFill>
                <a:latin typeface="Calibri" pitchFamily="34" charset="0"/>
                <a:ea typeface="Calibri" pitchFamily="34" charset="-122"/>
                <a:cs typeface="Calibri" pitchFamily="34" charset="-120"/>
              </a:rPr>
              <a:t>METRIC_AGGREGATE</a:t>
            </a:r>
            <a:endParaRPr lang="en-US" sz="800" dirty="0"/>
          </a:p>
        </p:txBody>
      </p:sp>
      <p:sp>
        <p:nvSpPr>
          <p:cNvPr id="7" name="Shape 5"/>
          <p:cNvSpPr/>
          <p:nvPr/>
        </p:nvSpPr>
        <p:spPr>
          <a:xfrm>
            <a:off x="1828800" y="1115568"/>
            <a:ext cx="1417320" cy="594360"/>
          </a:xfrm>
          <a:prstGeom prst="roundRect">
            <a:avLst>
              <a:gd name="adj" fmla="val 12308"/>
            </a:avLst>
          </a:prstGeom>
          <a:solidFill>
            <a:srgbClr val="1B2F5E"/>
          </a:solidFill>
          <a:ln/>
          <a:effectLst>
            <a:outerShdw sx="100000" sy="100000" kx="0" ky="0" algn="bl" rotWithShape="0" blurRad="101600" dist="38100" dir="2700000">
              <a:srgbClr val="000000">
                <a:alpha val="12000"/>
              </a:srgbClr>
            </a:outerShdw>
          </a:effectLst>
        </p:spPr>
      </p:sp>
      <p:sp>
        <p:nvSpPr>
          <p:cNvPr id="8" name="Text 6"/>
          <p:cNvSpPr/>
          <p:nvPr/>
        </p:nvSpPr>
        <p:spPr>
          <a:xfrm>
            <a:off x="1874520" y="1133856"/>
            <a:ext cx="1325880" cy="548640"/>
          </a:xfrm>
          <a:prstGeom prst="rect">
            <a:avLst/>
          </a:prstGeom>
          <a:noFill/>
          <a:ln/>
        </p:spPr>
        <p:txBody>
          <a:bodyPr wrap="square" rtlCol="0" anchor="ctr"/>
          <a:lstStyle/>
          <a:p>
            <a:pPr algn="ctr" indent="0" marL="0">
              <a:buNone/>
            </a:pPr>
            <a:r>
              <a:rPr lang="en-US" sz="800" b="1" dirty="0">
                <a:solidFill>
                  <a:srgbClr val="38BDF8"/>
                </a:solidFill>
                <a:latin typeface="Calibri" pitchFamily="34" charset="0"/>
                <a:ea typeface="Calibri" pitchFamily="34" charset="-122"/>
                <a:cs typeface="Calibri" pitchFamily="34" charset="-120"/>
              </a:rPr>
              <a:t>INFORMATION</a:t>
            </a:r>
            <a:endParaRPr lang="en-US" sz="800" dirty="0"/>
          </a:p>
          <a:p>
            <a:pPr algn="ctr" indent="0" marL="0">
              <a:buNone/>
            </a:pPr>
            <a:r>
              <a:rPr lang="en-US" sz="800" b="1" dirty="0">
                <a:solidFill>
                  <a:srgbClr val="38BDF8"/>
                </a:solidFill>
                <a:latin typeface="Calibri" pitchFamily="34" charset="0"/>
                <a:ea typeface="Calibri" pitchFamily="34" charset="-122"/>
                <a:cs typeface="Calibri" pitchFamily="34" charset="-120"/>
              </a:rPr>
              <a:t>SCHEMA</a:t>
            </a:r>
            <a:endParaRPr lang="en-US" sz="800" dirty="0"/>
          </a:p>
        </p:txBody>
      </p:sp>
      <p:sp>
        <p:nvSpPr>
          <p:cNvPr id="9" name="Shape 7"/>
          <p:cNvSpPr/>
          <p:nvPr/>
        </p:nvSpPr>
        <p:spPr>
          <a:xfrm>
            <a:off x="3383280" y="1115568"/>
            <a:ext cx="1417320" cy="594360"/>
          </a:xfrm>
          <a:prstGeom prst="roundRect">
            <a:avLst>
              <a:gd name="adj" fmla="val 12308"/>
            </a:avLst>
          </a:prstGeom>
          <a:solidFill>
            <a:srgbClr val="1B2F5E"/>
          </a:solidFill>
          <a:ln/>
          <a:effectLst>
            <a:outerShdw sx="100000" sy="100000" kx="0" ky="0" algn="bl" rotWithShape="0" blurRad="101600" dist="38100" dir="2700000">
              <a:srgbClr val="000000">
                <a:alpha val="12000"/>
              </a:srgbClr>
            </a:outerShdw>
          </a:effectLst>
        </p:spPr>
      </p:sp>
      <p:sp>
        <p:nvSpPr>
          <p:cNvPr id="10" name="Text 8"/>
          <p:cNvSpPr/>
          <p:nvPr/>
        </p:nvSpPr>
        <p:spPr>
          <a:xfrm>
            <a:off x="3429000" y="1133856"/>
            <a:ext cx="1325880" cy="548640"/>
          </a:xfrm>
          <a:prstGeom prst="rect">
            <a:avLst/>
          </a:prstGeom>
          <a:noFill/>
          <a:ln/>
        </p:spPr>
        <p:txBody>
          <a:bodyPr wrap="square" rtlCol="0" anchor="ctr"/>
          <a:lstStyle/>
          <a:p>
            <a:pPr algn="ctr" indent="0" marL="0">
              <a:buNone/>
            </a:pPr>
            <a:r>
              <a:rPr lang="en-US" sz="800" b="1" dirty="0">
                <a:solidFill>
                  <a:srgbClr val="38BDF8"/>
                </a:solidFill>
                <a:latin typeface="Calibri" pitchFamily="34" charset="0"/>
                <a:ea typeface="Calibri" pitchFamily="34" charset="-122"/>
                <a:cs typeface="Calibri" pitchFamily="34" charset="-120"/>
              </a:rPr>
              <a:t>ACCOUNT_USAGE</a:t>
            </a:r>
            <a:endParaRPr lang="en-US" sz="800" dirty="0"/>
          </a:p>
          <a:p>
            <a:pPr algn="ctr" indent="0" marL="0">
              <a:buNone/>
            </a:pPr>
            <a:r>
              <a:rPr lang="en-US" sz="800" b="1" dirty="0">
                <a:solidFill>
                  <a:srgbClr val="38BDF8"/>
                </a:solidFill>
                <a:latin typeface="Calibri" pitchFamily="34" charset="0"/>
                <a:ea typeface="Calibri" pitchFamily="34" charset="-122"/>
                <a:cs typeface="Calibri" pitchFamily="34" charset="-120"/>
              </a:rPr>
              <a:t>OBJ_DEPENDENCIES</a:t>
            </a:r>
            <a:endParaRPr lang="en-US" sz="800" dirty="0"/>
          </a:p>
        </p:txBody>
      </p:sp>
      <p:sp>
        <p:nvSpPr>
          <p:cNvPr id="11" name="Shape 9"/>
          <p:cNvSpPr/>
          <p:nvPr/>
        </p:nvSpPr>
        <p:spPr>
          <a:xfrm>
            <a:off x="982980" y="1709928"/>
            <a:ext cx="0" cy="256032"/>
          </a:xfrm>
          <a:prstGeom prst="line">
            <a:avLst/>
          </a:prstGeom>
          <a:noFill/>
          <a:ln w="12700">
            <a:solidFill>
              <a:srgbClr val="94A3B8"/>
            </a:solidFill>
            <a:prstDash val="solid"/>
          </a:ln>
        </p:spPr>
      </p:sp>
      <p:sp>
        <p:nvSpPr>
          <p:cNvPr id="12" name="Shape 10"/>
          <p:cNvSpPr/>
          <p:nvPr/>
        </p:nvSpPr>
        <p:spPr>
          <a:xfrm>
            <a:off x="2537460" y="1709928"/>
            <a:ext cx="0" cy="256032"/>
          </a:xfrm>
          <a:prstGeom prst="line">
            <a:avLst/>
          </a:prstGeom>
          <a:noFill/>
          <a:ln w="12700">
            <a:solidFill>
              <a:srgbClr val="94A3B8"/>
            </a:solidFill>
            <a:prstDash val="solid"/>
          </a:ln>
        </p:spPr>
      </p:sp>
      <p:sp>
        <p:nvSpPr>
          <p:cNvPr id="13" name="Shape 11"/>
          <p:cNvSpPr/>
          <p:nvPr/>
        </p:nvSpPr>
        <p:spPr>
          <a:xfrm>
            <a:off x="4091940" y="1709928"/>
            <a:ext cx="0" cy="256032"/>
          </a:xfrm>
          <a:prstGeom prst="line">
            <a:avLst/>
          </a:prstGeom>
          <a:noFill/>
          <a:ln w="12700">
            <a:solidFill>
              <a:srgbClr val="94A3B8"/>
            </a:solidFill>
            <a:prstDash val="solid"/>
          </a:ln>
        </p:spPr>
      </p:sp>
      <p:sp>
        <p:nvSpPr>
          <p:cNvPr id="14" name="Shape 12"/>
          <p:cNvSpPr/>
          <p:nvPr/>
        </p:nvSpPr>
        <p:spPr>
          <a:xfrm>
            <a:off x="274320" y="1965960"/>
            <a:ext cx="4663440" cy="256032"/>
          </a:xfrm>
          <a:prstGeom prst="rect">
            <a:avLst/>
          </a:prstGeom>
          <a:solidFill>
            <a:srgbClr val="0C3B6E"/>
          </a:solidFill>
          <a:ln w="12700">
            <a:solidFill>
              <a:srgbClr val="0891B2"/>
            </a:solidFill>
            <a:prstDash val="solid"/>
          </a:ln>
        </p:spPr>
      </p:sp>
      <p:sp>
        <p:nvSpPr>
          <p:cNvPr id="15" name="Text 13"/>
          <p:cNvSpPr/>
          <p:nvPr/>
        </p:nvSpPr>
        <p:spPr>
          <a:xfrm>
            <a:off x="274320" y="1965960"/>
            <a:ext cx="4663440" cy="256032"/>
          </a:xfrm>
          <a:prstGeom prst="rect">
            <a:avLst/>
          </a:prstGeom>
          <a:noFill/>
          <a:ln/>
        </p:spPr>
        <p:txBody>
          <a:bodyPr wrap="square"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SCENARIO 1: METADATA</a:t>
            </a:r>
            <a:endParaRPr lang="en-US" sz="900" dirty="0"/>
          </a:p>
        </p:txBody>
      </p:sp>
      <p:sp>
        <p:nvSpPr>
          <p:cNvPr id="16" name="Shape 14"/>
          <p:cNvSpPr/>
          <p:nvPr/>
        </p:nvSpPr>
        <p:spPr>
          <a:xfrm>
            <a:off x="274320" y="2286000"/>
            <a:ext cx="1481328" cy="301752"/>
          </a:xfrm>
          <a:prstGeom prst="roundRect">
            <a:avLst>
              <a:gd name="adj" fmla="val 18182"/>
            </a:avLst>
          </a:prstGeom>
          <a:solidFill>
            <a:srgbClr val="102952"/>
          </a:solidFill>
          <a:ln/>
        </p:spPr>
      </p:sp>
      <p:sp>
        <p:nvSpPr>
          <p:cNvPr id="17" name="Text 15"/>
          <p:cNvSpPr/>
          <p:nvPr/>
        </p:nvSpPr>
        <p:spPr>
          <a:xfrm>
            <a:off x="274320" y="2313432"/>
            <a:ext cx="1481328" cy="256032"/>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POC_META_TABLES</a:t>
            </a:r>
            <a:endParaRPr lang="en-US" sz="750" dirty="0"/>
          </a:p>
        </p:txBody>
      </p:sp>
      <p:sp>
        <p:nvSpPr>
          <p:cNvPr id="18" name="Shape 16"/>
          <p:cNvSpPr/>
          <p:nvPr/>
        </p:nvSpPr>
        <p:spPr>
          <a:xfrm>
            <a:off x="1847088" y="2286000"/>
            <a:ext cx="1481328" cy="301752"/>
          </a:xfrm>
          <a:prstGeom prst="roundRect">
            <a:avLst>
              <a:gd name="adj" fmla="val 18182"/>
            </a:avLst>
          </a:prstGeom>
          <a:solidFill>
            <a:srgbClr val="102952"/>
          </a:solidFill>
          <a:ln/>
        </p:spPr>
      </p:sp>
      <p:sp>
        <p:nvSpPr>
          <p:cNvPr id="19" name="Text 17"/>
          <p:cNvSpPr/>
          <p:nvPr/>
        </p:nvSpPr>
        <p:spPr>
          <a:xfrm>
            <a:off x="1847088" y="2313432"/>
            <a:ext cx="1481328" cy="256032"/>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POC_META_COLUMNS</a:t>
            </a:r>
            <a:endParaRPr lang="en-US" sz="750" dirty="0"/>
          </a:p>
        </p:txBody>
      </p:sp>
      <p:sp>
        <p:nvSpPr>
          <p:cNvPr id="20" name="Shape 18"/>
          <p:cNvSpPr/>
          <p:nvPr/>
        </p:nvSpPr>
        <p:spPr>
          <a:xfrm>
            <a:off x="3419856" y="2286000"/>
            <a:ext cx="1481328" cy="301752"/>
          </a:xfrm>
          <a:prstGeom prst="roundRect">
            <a:avLst>
              <a:gd name="adj" fmla="val 18182"/>
            </a:avLst>
          </a:prstGeom>
          <a:solidFill>
            <a:srgbClr val="102952"/>
          </a:solidFill>
          <a:ln/>
        </p:spPr>
      </p:sp>
      <p:sp>
        <p:nvSpPr>
          <p:cNvPr id="21" name="Text 19"/>
          <p:cNvSpPr/>
          <p:nvPr/>
        </p:nvSpPr>
        <p:spPr>
          <a:xfrm>
            <a:off x="3419856" y="2313432"/>
            <a:ext cx="1481328" cy="256032"/>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POC_META_DEPENDENCIES</a:t>
            </a:r>
            <a:endParaRPr lang="en-US" sz="750" dirty="0"/>
          </a:p>
        </p:txBody>
      </p:sp>
      <p:sp>
        <p:nvSpPr>
          <p:cNvPr id="22" name="Shape 20"/>
          <p:cNvSpPr/>
          <p:nvPr/>
        </p:nvSpPr>
        <p:spPr>
          <a:xfrm>
            <a:off x="274320" y="2651760"/>
            <a:ext cx="1481328" cy="301752"/>
          </a:xfrm>
          <a:prstGeom prst="roundRect">
            <a:avLst>
              <a:gd name="adj" fmla="val 18182"/>
            </a:avLst>
          </a:prstGeom>
          <a:solidFill>
            <a:srgbClr val="102952"/>
          </a:solidFill>
          <a:ln/>
        </p:spPr>
      </p:sp>
      <p:sp>
        <p:nvSpPr>
          <p:cNvPr id="23" name="Text 21"/>
          <p:cNvSpPr/>
          <p:nvPr/>
        </p:nvSpPr>
        <p:spPr>
          <a:xfrm>
            <a:off x="274320" y="2679192"/>
            <a:ext cx="1481328" cy="256032"/>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POC_FIELD_CATALOG</a:t>
            </a:r>
            <a:endParaRPr lang="en-US" sz="750" dirty="0"/>
          </a:p>
        </p:txBody>
      </p:sp>
      <p:sp>
        <p:nvSpPr>
          <p:cNvPr id="24" name="Shape 22"/>
          <p:cNvSpPr/>
          <p:nvPr/>
        </p:nvSpPr>
        <p:spPr>
          <a:xfrm>
            <a:off x="1847088" y="2651760"/>
            <a:ext cx="1481328" cy="301752"/>
          </a:xfrm>
          <a:prstGeom prst="roundRect">
            <a:avLst>
              <a:gd name="adj" fmla="val 18182"/>
            </a:avLst>
          </a:prstGeom>
          <a:solidFill>
            <a:srgbClr val="102952"/>
          </a:solidFill>
          <a:ln/>
        </p:spPr>
      </p:sp>
      <p:sp>
        <p:nvSpPr>
          <p:cNvPr id="25" name="Text 23"/>
          <p:cNvSpPr/>
          <p:nvPr/>
        </p:nvSpPr>
        <p:spPr>
          <a:xfrm>
            <a:off x="1847088" y="2679192"/>
            <a:ext cx="1481328" cy="256032"/>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POC_GOLD_UPSTREAM</a:t>
            </a:r>
            <a:endParaRPr lang="en-US" sz="750" dirty="0"/>
          </a:p>
        </p:txBody>
      </p:sp>
      <p:sp>
        <p:nvSpPr>
          <p:cNvPr id="26" name="Shape 24"/>
          <p:cNvSpPr/>
          <p:nvPr/>
        </p:nvSpPr>
        <p:spPr>
          <a:xfrm>
            <a:off x="3419856" y="2651760"/>
            <a:ext cx="1481328" cy="301752"/>
          </a:xfrm>
          <a:prstGeom prst="roundRect">
            <a:avLst>
              <a:gd name="adj" fmla="val 18182"/>
            </a:avLst>
          </a:prstGeom>
          <a:solidFill>
            <a:srgbClr val="102952"/>
          </a:solidFill>
          <a:ln/>
        </p:spPr>
      </p:sp>
      <p:sp>
        <p:nvSpPr>
          <p:cNvPr id="27" name="Text 25"/>
          <p:cNvSpPr/>
          <p:nvPr/>
        </p:nvSpPr>
        <p:spPr>
          <a:xfrm>
            <a:off x="3419856" y="2679192"/>
            <a:ext cx="1481328" cy="256032"/>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POC_META_STALE_TABLES</a:t>
            </a:r>
            <a:endParaRPr lang="en-US" sz="750" dirty="0"/>
          </a:p>
        </p:txBody>
      </p:sp>
      <p:sp>
        <p:nvSpPr>
          <p:cNvPr id="28" name="Shape 26"/>
          <p:cNvSpPr/>
          <p:nvPr/>
        </p:nvSpPr>
        <p:spPr>
          <a:xfrm>
            <a:off x="2606040" y="3035808"/>
            <a:ext cx="0" cy="228600"/>
          </a:xfrm>
          <a:prstGeom prst="line">
            <a:avLst/>
          </a:prstGeom>
          <a:noFill/>
          <a:ln w="19050">
            <a:solidFill>
              <a:srgbClr val="38BDF8"/>
            </a:solidFill>
            <a:prstDash val="solid"/>
          </a:ln>
        </p:spPr>
      </p:sp>
      <p:sp>
        <p:nvSpPr>
          <p:cNvPr id="29" name="Shape 27"/>
          <p:cNvSpPr/>
          <p:nvPr/>
        </p:nvSpPr>
        <p:spPr>
          <a:xfrm>
            <a:off x="457200" y="3264408"/>
            <a:ext cx="4297680" cy="457200"/>
          </a:xfrm>
          <a:prstGeom prst="roundRect">
            <a:avLst>
              <a:gd name="adj" fmla="val 16000"/>
            </a:avLst>
          </a:prstGeom>
          <a:solidFill>
            <a:srgbClr val="0E4D7B"/>
          </a:solidFill>
          <a:ln/>
        </p:spPr>
      </p:sp>
      <p:sp>
        <p:nvSpPr>
          <p:cNvPr id="30" name="Text 28"/>
          <p:cNvSpPr/>
          <p:nvPr/>
        </p:nvSpPr>
        <p:spPr>
          <a:xfrm>
            <a:off x="502920" y="3282696"/>
            <a:ext cx="4206240" cy="420624"/>
          </a:xfrm>
          <a:prstGeom prst="rect">
            <a:avLst/>
          </a:prstGeom>
          <a:noFill/>
          <a:ln/>
        </p:spPr>
        <p:txBody>
          <a:bodyPr wrap="square" rtlCol="0" anchor="ctr"/>
          <a:lstStyle/>
          <a:p>
            <a:pPr algn="ctr" indent="0" marL="0">
              <a:buNone/>
            </a:pPr>
            <a:r>
              <a:rPr lang="en-US" sz="750" dirty="0">
                <a:solidFill>
                  <a:srgbClr val="7DD3FC"/>
                </a:solidFill>
                <a:latin typeface="Calibri" pitchFamily="34" charset="0"/>
                <a:ea typeface="Calibri" pitchFamily="34" charset="-122"/>
                <a:cs typeface="Calibri" pitchFamily="34" charset="-120"/>
              </a:rPr>
              <a:t>AI_COMPLETE:  FN_EXPLAIN_FIELD  ·  FN_EXPLAIN_UPSTREAM  ·  FN_ASK_METADATA  ·  POC_AI_STALE_TABLE_REPORT</a:t>
            </a:r>
            <a:endParaRPr lang="en-US" sz="750" dirty="0"/>
          </a:p>
        </p:txBody>
      </p:sp>
      <p:sp>
        <p:nvSpPr>
          <p:cNvPr id="31" name="Shape 29"/>
          <p:cNvSpPr/>
          <p:nvPr/>
        </p:nvSpPr>
        <p:spPr>
          <a:xfrm>
            <a:off x="5120640" y="1965960"/>
            <a:ext cx="3749040" cy="256032"/>
          </a:xfrm>
          <a:prstGeom prst="rect">
            <a:avLst/>
          </a:prstGeom>
          <a:solidFill>
            <a:srgbClr val="3B1278"/>
          </a:solidFill>
          <a:ln w="12700">
            <a:solidFill>
              <a:srgbClr val="A78BFA"/>
            </a:solidFill>
            <a:prstDash val="solid"/>
          </a:ln>
        </p:spPr>
      </p:sp>
      <p:sp>
        <p:nvSpPr>
          <p:cNvPr id="32" name="Text 30"/>
          <p:cNvSpPr/>
          <p:nvPr/>
        </p:nvSpPr>
        <p:spPr>
          <a:xfrm>
            <a:off x="5120640" y="1965960"/>
            <a:ext cx="3749040" cy="256032"/>
          </a:xfrm>
          <a:prstGeom prst="rect">
            <a:avLst/>
          </a:prstGeom>
          <a:noFill/>
          <a:ln/>
        </p:spPr>
        <p:txBody>
          <a:bodyPr wrap="square" rtlCol="0" anchor="ctr"/>
          <a:lstStyle/>
          <a:p>
            <a:pPr algn="ctr" indent="0" marL="0">
              <a:buNone/>
            </a:pPr>
            <a:r>
              <a:rPr lang="en-US" sz="900" b="1" dirty="0">
                <a:solidFill>
                  <a:srgbClr val="DDD6FE"/>
                </a:solidFill>
                <a:latin typeface="Calibri" pitchFamily="34" charset="0"/>
                <a:ea typeface="Calibri" pitchFamily="34" charset="-122"/>
                <a:cs typeface="Calibri" pitchFamily="34" charset="-120"/>
              </a:rPr>
              <a:t>SCENARIO 2: ANOMALY DETECTION</a:t>
            </a:r>
            <a:endParaRPr lang="en-US" sz="900" dirty="0"/>
          </a:p>
        </p:txBody>
      </p:sp>
      <p:sp>
        <p:nvSpPr>
          <p:cNvPr id="33" name="Shape 31"/>
          <p:cNvSpPr/>
          <p:nvPr/>
        </p:nvSpPr>
        <p:spPr>
          <a:xfrm>
            <a:off x="5166360" y="2286000"/>
            <a:ext cx="3566160" cy="301752"/>
          </a:xfrm>
          <a:prstGeom prst="roundRect">
            <a:avLst>
              <a:gd name="adj" fmla="val 18182"/>
            </a:avLst>
          </a:prstGeom>
          <a:solidFill>
            <a:srgbClr val="2D0F5E"/>
          </a:solidFill>
          <a:ln/>
        </p:spPr>
      </p:sp>
      <p:sp>
        <p:nvSpPr>
          <p:cNvPr id="34" name="Text 32"/>
          <p:cNvSpPr/>
          <p:nvPr/>
        </p:nvSpPr>
        <p:spPr>
          <a:xfrm>
            <a:off x="5166360" y="2304288"/>
            <a:ext cx="3566160" cy="256032"/>
          </a:xfrm>
          <a:prstGeom prst="rect">
            <a:avLst/>
          </a:prstGeom>
          <a:noFill/>
          <a:ln/>
        </p:spPr>
        <p:txBody>
          <a:bodyPr wrap="square"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POC_METRIC_DAILY</a:t>
            </a:r>
            <a:endParaRPr lang="en-US" sz="800" dirty="0"/>
          </a:p>
        </p:txBody>
      </p:sp>
      <p:sp>
        <p:nvSpPr>
          <p:cNvPr id="35" name="Shape 33"/>
          <p:cNvSpPr/>
          <p:nvPr/>
        </p:nvSpPr>
        <p:spPr>
          <a:xfrm>
            <a:off x="6949440" y="2587752"/>
            <a:ext cx="0" cy="201168"/>
          </a:xfrm>
          <a:prstGeom prst="line">
            <a:avLst/>
          </a:prstGeom>
          <a:noFill/>
          <a:ln w="12700">
            <a:solidFill>
              <a:srgbClr val="94A3B8"/>
            </a:solidFill>
            <a:prstDash val="solid"/>
          </a:ln>
        </p:spPr>
      </p:sp>
      <p:sp>
        <p:nvSpPr>
          <p:cNvPr id="36" name="Shape 34"/>
          <p:cNvSpPr/>
          <p:nvPr/>
        </p:nvSpPr>
        <p:spPr>
          <a:xfrm>
            <a:off x="5166360" y="2788920"/>
            <a:ext cx="3566160" cy="384048"/>
          </a:xfrm>
          <a:prstGeom prst="roundRect">
            <a:avLst>
              <a:gd name="adj" fmla="val 14286"/>
            </a:avLst>
          </a:prstGeom>
          <a:solidFill>
            <a:srgbClr val="2D0F5E"/>
          </a:solidFill>
          <a:ln/>
        </p:spPr>
      </p:sp>
      <p:sp>
        <p:nvSpPr>
          <p:cNvPr id="37" name="Text 35"/>
          <p:cNvSpPr/>
          <p:nvPr/>
        </p:nvSpPr>
        <p:spPr>
          <a:xfrm>
            <a:off x="5166360" y="2816352"/>
            <a:ext cx="3566160" cy="329184"/>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POC_AD_BASELINE_SERIES  (median+MAD / day-of-week)</a:t>
            </a:r>
            <a:endParaRPr lang="en-US" sz="750" dirty="0"/>
          </a:p>
        </p:txBody>
      </p:sp>
      <p:sp>
        <p:nvSpPr>
          <p:cNvPr id="38" name="Shape 36"/>
          <p:cNvSpPr/>
          <p:nvPr/>
        </p:nvSpPr>
        <p:spPr>
          <a:xfrm>
            <a:off x="6949440" y="3172968"/>
            <a:ext cx="0" cy="91440"/>
          </a:xfrm>
          <a:prstGeom prst="line">
            <a:avLst/>
          </a:prstGeom>
          <a:noFill/>
          <a:ln w="12700">
            <a:solidFill>
              <a:srgbClr val="94A3B8"/>
            </a:solidFill>
            <a:prstDash val="solid"/>
          </a:ln>
        </p:spPr>
      </p:sp>
      <p:sp>
        <p:nvSpPr>
          <p:cNvPr id="39" name="Shape 37"/>
          <p:cNvSpPr/>
          <p:nvPr/>
        </p:nvSpPr>
        <p:spPr>
          <a:xfrm>
            <a:off x="5166360" y="3264408"/>
            <a:ext cx="1719072" cy="384048"/>
          </a:xfrm>
          <a:prstGeom prst="roundRect">
            <a:avLst>
              <a:gd name="adj" fmla="val 14286"/>
            </a:avLst>
          </a:prstGeom>
          <a:solidFill>
            <a:srgbClr val="2D0F5E"/>
          </a:solidFill>
          <a:ln/>
        </p:spPr>
      </p:sp>
      <p:sp>
        <p:nvSpPr>
          <p:cNvPr id="40" name="Text 38"/>
          <p:cNvSpPr/>
          <p:nvPr/>
        </p:nvSpPr>
        <p:spPr>
          <a:xfrm>
            <a:off x="5166360" y="3282696"/>
            <a:ext cx="1719072" cy="347472"/>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POC_AD_SCORED</a:t>
            </a:r>
            <a:endParaRPr lang="en-US" sz="750" dirty="0"/>
          </a:p>
          <a:p>
            <a:pPr algn="ctr" indent="0" marL="0">
              <a:buNone/>
            </a:pPr>
            <a:r>
              <a:rPr lang="en-US" sz="750" dirty="0">
                <a:solidFill>
                  <a:srgbClr val="94A3B8"/>
                </a:solidFill>
                <a:latin typeface="Calibri" pitchFamily="34" charset="0"/>
                <a:ea typeface="Calibri" pitchFamily="34" charset="-122"/>
                <a:cs typeface="Calibri" pitchFamily="34" charset="-120"/>
              </a:rPr>
              <a:t>(z-scores)</a:t>
            </a:r>
            <a:endParaRPr lang="en-US" sz="750" dirty="0"/>
          </a:p>
        </p:txBody>
      </p:sp>
      <p:sp>
        <p:nvSpPr>
          <p:cNvPr id="41" name="Shape 39"/>
          <p:cNvSpPr/>
          <p:nvPr/>
        </p:nvSpPr>
        <p:spPr>
          <a:xfrm>
            <a:off x="7013448" y="3264408"/>
            <a:ext cx="1719072" cy="384048"/>
          </a:xfrm>
          <a:prstGeom prst="roundRect">
            <a:avLst>
              <a:gd name="adj" fmla="val 14286"/>
            </a:avLst>
          </a:prstGeom>
          <a:solidFill>
            <a:srgbClr val="2D0F5E"/>
          </a:solidFill>
          <a:ln/>
        </p:spPr>
      </p:sp>
      <p:sp>
        <p:nvSpPr>
          <p:cNvPr id="42" name="Text 40"/>
          <p:cNvSpPr/>
          <p:nvPr/>
        </p:nvSpPr>
        <p:spPr>
          <a:xfrm>
            <a:off x="7013448" y="3282696"/>
            <a:ext cx="1719072" cy="347472"/>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POC_AD</a:t>
            </a:r>
            <a:endParaRPr lang="en-US" sz="750" dirty="0"/>
          </a:p>
          <a:p>
            <a:pPr algn="ctr" indent="0" marL="0">
              <a:buNone/>
            </a:pPr>
            <a:r>
              <a:rPr lang="en-US" sz="750" dirty="0">
                <a:solidFill>
                  <a:srgbClr val="94A3B8"/>
                </a:solidFill>
                <a:latin typeface="Calibri" pitchFamily="34" charset="0"/>
                <a:ea typeface="Calibri" pitchFamily="34" charset="-122"/>
                <a:cs typeface="Calibri" pitchFamily="34" charset="-120"/>
              </a:rPr>
              <a:t>SILENT_GAPS</a:t>
            </a:r>
            <a:endParaRPr lang="en-US" sz="750" dirty="0"/>
          </a:p>
        </p:txBody>
      </p:sp>
      <p:sp>
        <p:nvSpPr>
          <p:cNvPr id="43" name="Shape 41"/>
          <p:cNvSpPr/>
          <p:nvPr/>
        </p:nvSpPr>
        <p:spPr>
          <a:xfrm>
            <a:off x="2606040" y="3721608"/>
            <a:ext cx="0" cy="182880"/>
          </a:xfrm>
          <a:prstGeom prst="line">
            <a:avLst/>
          </a:prstGeom>
          <a:noFill/>
          <a:ln w="19050">
            <a:solidFill>
              <a:srgbClr val="0891B2"/>
            </a:solidFill>
            <a:prstDash val="solid"/>
          </a:ln>
        </p:spPr>
      </p:sp>
      <p:sp>
        <p:nvSpPr>
          <p:cNvPr id="44" name="Shape 42"/>
          <p:cNvSpPr/>
          <p:nvPr/>
        </p:nvSpPr>
        <p:spPr>
          <a:xfrm>
            <a:off x="6949440" y="3648456"/>
            <a:ext cx="0" cy="256032"/>
          </a:xfrm>
          <a:prstGeom prst="line">
            <a:avLst/>
          </a:prstGeom>
          <a:noFill/>
          <a:ln w="19050">
            <a:solidFill>
              <a:srgbClr val="A78BFA"/>
            </a:solidFill>
            <a:prstDash val="solid"/>
          </a:ln>
        </p:spPr>
      </p:sp>
      <p:sp>
        <p:nvSpPr>
          <p:cNvPr id="45" name="Shape 43"/>
          <p:cNvSpPr/>
          <p:nvPr/>
        </p:nvSpPr>
        <p:spPr>
          <a:xfrm>
            <a:off x="457200" y="3904488"/>
            <a:ext cx="8321040" cy="384048"/>
          </a:xfrm>
          <a:prstGeom prst="roundRect">
            <a:avLst>
              <a:gd name="adj" fmla="val 19048"/>
            </a:avLst>
          </a:prstGeom>
          <a:solidFill>
            <a:srgbClr val="0C4A3D"/>
          </a:solidFill>
          <a:ln/>
        </p:spPr>
      </p:sp>
      <p:sp>
        <p:nvSpPr>
          <p:cNvPr id="46" name="Text 44"/>
          <p:cNvSpPr/>
          <p:nvPr/>
        </p:nvSpPr>
        <p:spPr>
          <a:xfrm>
            <a:off x="502920" y="3922776"/>
            <a:ext cx="8229600" cy="347472"/>
          </a:xfrm>
          <a:prstGeom prst="rect">
            <a:avLst/>
          </a:prstGeom>
          <a:noFill/>
          <a:ln/>
        </p:spPr>
        <p:txBody>
          <a:bodyPr wrap="square" rtlCol="0" anchor="ctr"/>
          <a:lstStyle/>
          <a:p>
            <a:pPr algn="ctr" indent="0" marL="0">
              <a:buNone/>
            </a:pPr>
            <a:r>
              <a:rPr lang="en-US" sz="900" b="1" dirty="0">
                <a:solidFill>
                  <a:srgbClr val="6EE7B7"/>
                </a:solidFill>
                <a:latin typeface="Calibri" pitchFamily="34" charset="0"/>
                <a:ea typeface="Calibri" pitchFamily="34" charset="-122"/>
                <a:cs typeface="Calibri" pitchFamily="34" charset="-120"/>
              </a:rPr>
              <a:t>POC_ANOMALY_FINDINGS  →  POC_AI_ANOMALY_REPORT  (AI explanation for each finding)</a:t>
            </a:r>
            <a:endParaRPr lang="en-US" sz="900" dirty="0"/>
          </a:p>
        </p:txBody>
      </p:sp>
      <p:sp>
        <p:nvSpPr>
          <p:cNvPr id="47" name="Shape 45"/>
          <p:cNvSpPr/>
          <p:nvPr/>
        </p:nvSpPr>
        <p:spPr>
          <a:xfrm>
            <a:off x="4617720" y="4288536"/>
            <a:ext cx="0" cy="164592"/>
          </a:xfrm>
          <a:prstGeom prst="line">
            <a:avLst/>
          </a:prstGeom>
          <a:noFill/>
          <a:ln w="19050">
            <a:solidFill>
              <a:srgbClr val="0891B2"/>
            </a:solidFill>
            <a:prstDash val="solid"/>
          </a:ln>
        </p:spPr>
      </p:sp>
      <p:sp>
        <p:nvSpPr>
          <p:cNvPr id="48" name="Shape 46"/>
          <p:cNvSpPr/>
          <p:nvPr/>
        </p:nvSpPr>
        <p:spPr>
          <a:xfrm>
            <a:off x="274320" y="4453128"/>
            <a:ext cx="8503920" cy="228600"/>
          </a:xfrm>
          <a:prstGeom prst="rect">
            <a:avLst/>
          </a:prstGeom>
          <a:solidFill>
            <a:srgbClr val="1B3A2F"/>
          </a:solidFill>
          <a:ln w="12700">
            <a:solidFill>
              <a:srgbClr val="0891B2"/>
            </a:solidFill>
            <a:prstDash val="solid"/>
          </a:ln>
        </p:spPr>
      </p:sp>
      <p:sp>
        <p:nvSpPr>
          <p:cNvPr id="49" name="Text 47"/>
          <p:cNvSpPr/>
          <p:nvPr/>
        </p:nvSpPr>
        <p:spPr>
          <a:xfrm>
            <a:off x="274320" y="4453128"/>
            <a:ext cx="8503920" cy="228600"/>
          </a:xfrm>
          <a:prstGeom prst="rect">
            <a:avLst/>
          </a:prstGeom>
          <a:noFill/>
          <a:ln/>
        </p:spPr>
        <p:txBody>
          <a:bodyPr wrap="square" rtlCol="0" anchor="ctr"/>
          <a:lstStyle/>
          <a:p>
            <a:pPr algn="ctr" indent="0" marL="0">
              <a:buNone/>
            </a:pPr>
            <a:r>
              <a:rPr lang="en-US" sz="900" b="1" dirty="0">
                <a:solidFill>
                  <a:srgbClr val="34D399"/>
                </a:solidFill>
                <a:latin typeface="Calibri" pitchFamily="34" charset="0"/>
                <a:ea typeface="Calibri" pitchFamily="34" charset="-122"/>
                <a:cs typeface="Calibri" pitchFamily="34" charset="-120"/>
              </a:rPr>
              <a:t>CONSUMPTION</a:t>
            </a:r>
            <a:endParaRPr lang="en-US" sz="900" dirty="0"/>
          </a:p>
        </p:txBody>
      </p:sp>
      <p:sp>
        <p:nvSpPr>
          <p:cNvPr id="50" name="Shape 48"/>
          <p:cNvSpPr/>
          <p:nvPr/>
        </p:nvSpPr>
        <p:spPr>
          <a:xfrm>
            <a:off x="457200" y="4709160"/>
            <a:ext cx="3931920" cy="320040"/>
          </a:xfrm>
          <a:prstGeom prst="roundRect">
            <a:avLst>
              <a:gd name="adj" fmla="val 20000"/>
            </a:avLst>
          </a:prstGeom>
          <a:solidFill>
            <a:srgbClr val="0A3427"/>
          </a:solidFill>
          <a:ln/>
        </p:spPr>
      </p:sp>
      <p:sp>
        <p:nvSpPr>
          <p:cNvPr id="51" name="Text 49"/>
          <p:cNvSpPr/>
          <p:nvPr/>
        </p:nvSpPr>
        <p:spPr>
          <a:xfrm>
            <a:off x="502920" y="4727448"/>
            <a:ext cx="3840480" cy="274320"/>
          </a:xfrm>
          <a:prstGeom prst="rect">
            <a:avLst/>
          </a:prstGeom>
          <a:noFill/>
          <a:ln/>
        </p:spPr>
        <p:txBody>
          <a:bodyPr wrap="square" rtlCol="0" anchor="ctr"/>
          <a:lstStyle/>
          <a:p>
            <a:pPr algn="ctr" indent="0" marL="0">
              <a:buNone/>
            </a:pPr>
            <a:r>
              <a:rPr lang="en-US" sz="850" dirty="0">
                <a:solidFill>
                  <a:srgbClr val="34D399"/>
                </a:solidFill>
                <a:latin typeface="Calibri" pitchFamily="34" charset="0"/>
                <a:ea typeface="Calibri" pitchFamily="34" charset="-122"/>
                <a:cs typeface="Calibri" pitchFamily="34" charset="-120"/>
              </a:rPr>
              <a:t>SEMANTIC VIEW: POC_PIPELINE_INTELLIGENCE</a:t>
            </a:r>
            <a:endParaRPr lang="en-US" sz="850" dirty="0"/>
          </a:p>
        </p:txBody>
      </p:sp>
      <p:sp>
        <p:nvSpPr>
          <p:cNvPr id="52" name="Shape 50"/>
          <p:cNvSpPr/>
          <p:nvPr/>
        </p:nvSpPr>
        <p:spPr>
          <a:xfrm>
            <a:off x="4754880" y="4709160"/>
            <a:ext cx="3931920" cy="320040"/>
          </a:xfrm>
          <a:prstGeom prst="roundRect">
            <a:avLst>
              <a:gd name="adj" fmla="val 20000"/>
            </a:avLst>
          </a:prstGeom>
          <a:solidFill>
            <a:srgbClr val="0A3427"/>
          </a:solidFill>
          <a:ln/>
        </p:spPr>
      </p:sp>
      <p:sp>
        <p:nvSpPr>
          <p:cNvPr id="53" name="Text 51"/>
          <p:cNvSpPr/>
          <p:nvPr/>
        </p:nvSpPr>
        <p:spPr>
          <a:xfrm>
            <a:off x="4800600" y="4727448"/>
            <a:ext cx="3840480" cy="274320"/>
          </a:xfrm>
          <a:prstGeom prst="rect">
            <a:avLst/>
          </a:prstGeom>
          <a:noFill/>
          <a:ln/>
        </p:spPr>
        <p:txBody>
          <a:bodyPr wrap="square" rtlCol="0" anchor="ctr"/>
          <a:lstStyle/>
          <a:p>
            <a:pPr algn="ctr" indent="0" marL="0">
              <a:buNone/>
            </a:pPr>
            <a:r>
              <a:rPr lang="en-US" sz="850" dirty="0">
                <a:solidFill>
                  <a:srgbClr val="34D399"/>
                </a:solidFill>
                <a:latin typeface="Calibri" pitchFamily="34" charset="0"/>
                <a:ea typeface="Calibri" pitchFamily="34" charset="-122"/>
                <a:cs typeface="Calibri" pitchFamily="34" charset="-120"/>
              </a:rPr>
              <a:t>CORTEX AGENT: POC_PIPELINE_INTELLIGENCE_AGENT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59669"/>
          </a:solidFill>
          <a:ln w="12700">
            <a:solidFill>
              <a:srgbClr val="059669"/>
            </a:solidFill>
            <a:prstDash val="solid"/>
          </a:ln>
        </p:spPr>
      </p:sp>
      <p:sp>
        <p:nvSpPr>
          <p:cNvPr id="3" name="Text 1"/>
          <p:cNvSpPr/>
          <p:nvPr/>
        </p:nvSpPr>
        <p:spPr>
          <a:xfrm>
            <a:off x="457200" y="182880"/>
            <a:ext cx="8229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How People Use It — Consumption Layer</a:t>
            </a:r>
            <a:endParaRPr lang="en-US" sz="2600" dirty="0"/>
          </a:p>
        </p:txBody>
      </p:sp>
      <p:sp>
        <p:nvSpPr>
          <p:cNvPr id="4" name="Shape 2"/>
          <p:cNvSpPr/>
          <p:nvPr/>
        </p:nvSpPr>
        <p:spPr>
          <a:xfrm>
            <a:off x="365760" y="1051560"/>
            <a:ext cx="3840480" cy="1828800"/>
          </a:xfrm>
          <a:prstGeom prst="roundRect">
            <a:avLst>
              <a:gd name="adj" fmla="val 6000"/>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554480" y="1143000"/>
            <a:ext cx="685800" cy="685800"/>
          </a:xfrm>
          <a:prstGeom prst="ellipse">
            <a:avLst/>
          </a:prstGeom>
          <a:solidFill>
            <a:srgbClr val="ECFDF5"/>
          </a:solidFill>
          <a:ln w="25400">
            <a:solidFill>
              <a:srgbClr val="059669"/>
            </a:solidFill>
            <a:prstDash val="solid"/>
          </a:ln>
        </p:spPr>
      </p:sp>
      <p:sp>
        <p:nvSpPr>
          <p:cNvPr id="6" name="Text 4"/>
          <p:cNvSpPr/>
          <p:nvPr/>
        </p:nvSpPr>
        <p:spPr>
          <a:xfrm>
            <a:off x="1554480" y="1143000"/>
            <a:ext cx="685800" cy="6858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7" name="Text 5"/>
          <p:cNvSpPr/>
          <p:nvPr/>
        </p:nvSpPr>
        <p:spPr>
          <a:xfrm>
            <a:off x="457200" y="1920240"/>
            <a:ext cx="3657600" cy="365760"/>
          </a:xfrm>
          <a:prstGeom prst="rect">
            <a:avLst/>
          </a:prstGeom>
          <a:noFill/>
          <a:ln/>
        </p:spPr>
        <p:txBody>
          <a:bodyPr wrap="square" rtlCol="0" anchor="ctr"/>
          <a:lstStyle/>
          <a:p>
            <a:pPr algn="ctr" indent="0" marL="0">
              <a:buNone/>
            </a:pPr>
            <a:r>
              <a:rPr lang="en-US" sz="1500" b="1" dirty="0">
                <a:solidFill>
                  <a:srgbClr val="0D1B3E"/>
                </a:solidFill>
                <a:latin typeface="Calibri" pitchFamily="34" charset="0"/>
                <a:ea typeface="Calibri" pitchFamily="34" charset="-122"/>
                <a:cs typeface="Calibri" pitchFamily="34" charset="-120"/>
              </a:rPr>
              <a:t>Semantic View</a:t>
            </a:r>
            <a:endParaRPr lang="en-US" sz="1500" dirty="0"/>
          </a:p>
        </p:txBody>
      </p:sp>
      <p:sp>
        <p:nvSpPr>
          <p:cNvPr id="8" name="Text 6"/>
          <p:cNvSpPr/>
          <p:nvPr/>
        </p:nvSpPr>
        <p:spPr>
          <a:xfrm>
            <a:off x="457200" y="2304288"/>
            <a:ext cx="3657600" cy="256032"/>
          </a:xfrm>
          <a:prstGeom prst="rect">
            <a:avLst/>
          </a:prstGeom>
          <a:noFill/>
          <a:ln/>
        </p:spPr>
        <p:txBody>
          <a:bodyPr wrap="square" rtlCol="0" anchor="ctr"/>
          <a:lstStyle/>
          <a:p>
            <a:pPr algn="ctr" indent="0" marL="0">
              <a:buNone/>
            </a:pPr>
            <a:r>
              <a:rPr lang="en-US" sz="1000" b="1" dirty="0">
                <a:solidFill>
                  <a:srgbClr val="0891B2"/>
                </a:solidFill>
                <a:latin typeface="Calibri" pitchFamily="34" charset="0"/>
                <a:ea typeface="Calibri" pitchFamily="34" charset="-122"/>
                <a:cs typeface="Calibri" pitchFamily="34" charset="-120"/>
              </a:rPr>
              <a:t>POC_PIPELINE_INTELLIGENCE</a:t>
            </a:r>
            <a:endParaRPr lang="en-US" sz="1000" dirty="0"/>
          </a:p>
        </p:txBody>
      </p:sp>
      <p:sp>
        <p:nvSpPr>
          <p:cNvPr id="9" name="Text 7"/>
          <p:cNvSpPr/>
          <p:nvPr/>
        </p:nvSpPr>
        <p:spPr>
          <a:xfrm>
            <a:off x="548640" y="2578608"/>
            <a:ext cx="3474720" cy="256032"/>
          </a:xfrm>
          <a:prstGeom prst="rect">
            <a:avLst/>
          </a:prstGeom>
          <a:noFill/>
          <a:ln/>
        </p:spPr>
        <p:txBody>
          <a:bodyPr wrap="square"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A business-friendly layer that knows the metrics and dimensions. Feeds all downstream tools.</a:t>
            </a:r>
            <a:endParaRPr lang="en-US" sz="950" dirty="0"/>
          </a:p>
        </p:txBody>
      </p:sp>
      <p:sp>
        <p:nvSpPr>
          <p:cNvPr id="10" name="Shape 8"/>
          <p:cNvSpPr/>
          <p:nvPr/>
        </p:nvSpPr>
        <p:spPr>
          <a:xfrm>
            <a:off x="4206240" y="1965960"/>
            <a:ext cx="731520" cy="0"/>
          </a:xfrm>
          <a:prstGeom prst="line">
            <a:avLst/>
          </a:prstGeom>
          <a:noFill/>
          <a:ln w="25400">
            <a:solidFill>
              <a:srgbClr val="0891B2"/>
            </a:solidFill>
            <a:prstDash val="solid"/>
          </a:ln>
        </p:spPr>
      </p:sp>
      <p:sp>
        <p:nvSpPr>
          <p:cNvPr id="11" name="Shape 9"/>
          <p:cNvSpPr/>
          <p:nvPr/>
        </p:nvSpPr>
        <p:spPr>
          <a:xfrm>
            <a:off x="4937760" y="1051560"/>
            <a:ext cx="3840480" cy="1828800"/>
          </a:xfrm>
          <a:prstGeom prst="roundRect">
            <a:avLst>
              <a:gd name="adj" fmla="val 6000"/>
            </a:avLst>
          </a:prstGeom>
          <a:solidFill>
            <a:srgbClr val="FFFFFF"/>
          </a:solidFill>
          <a:ln/>
          <a:effectLst>
            <a:outerShdw sx="100000" sy="100000" kx="0" ky="0" algn="bl" rotWithShape="0" blurRad="101600" dist="38100" dir="2700000">
              <a:srgbClr val="000000">
                <a:alpha val="12000"/>
              </a:srgbClr>
            </a:outerShdw>
          </a:effectLst>
        </p:spPr>
      </p:sp>
      <p:sp>
        <p:nvSpPr>
          <p:cNvPr id="12" name="Shape 10"/>
          <p:cNvSpPr/>
          <p:nvPr/>
        </p:nvSpPr>
        <p:spPr>
          <a:xfrm>
            <a:off x="6126480" y="1143000"/>
            <a:ext cx="685800" cy="685800"/>
          </a:xfrm>
          <a:prstGeom prst="ellipse">
            <a:avLst/>
          </a:prstGeom>
          <a:solidFill>
            <a:srgbClr val="E0F4FA"/>
          </a:solidFill>
          <a:ln w="25400">
            <a:solidFill>
              <a:srgbClr val="0891B2"/>
            </a:solidFill>
            <a:prstDash val="solid"/>
          </a:ln>
        </p:spPr>
      </p:sp>
      <p:sp>
        <p:nvSpPr>
          <p:cNvPr id="13" name="Text 11"/>
          <p:cNvSpPr/>
          <p:nvPr/>
        </p:nvSpPr>
        <p:spPr>
          <a:xfrm>
            <a:off x="6126480" y="1143000"/>
            <a:ext cx="685800" cy="6858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4" name="Text 12"/>
          <p:cNvSpPr/>
          <p:nvPr/>
        </p:nvSpPr>
        <p:spPr>
          <a:xfrm>
            <a:off x="5029200" y="1920240"/>
            <a:ext cx="3657600" cy="365760"/>
          </a:xfrm>
          <a:prstGeom prst="rect">
            <a:avLst/>
          </a:prstGeom>
          <a:noFill/>
          <a:ln/>
        </p:spPr>
        <p:txBody>
          <a:bodyPr wrap="square" rtlCol="0" anchor="ctr"/>
          <a:lstStyle/>
          <a:p>
            <a:pPr algn="ctr" indent="0" marL="0">
              <a:buNone/>
            </a:pPr>
            <a:r>
              <a:rPr lang="en-US" sz="1500" b="1" dirty="0">
                <a:solidFill>
                  <a:srgbClr val="0D1B3E"/>
                </a:solidFill>
                <a:latin typeface="Calibri" pitchFamily="34" charset="0"/>
                <a:ea typeface="Calibri" pitchFamily="34" charset="-122"/>
                <a:cs typeface="Calibri" pitchFamily="34" charset="-120"/>
              </a:rPr>
              <a:t>Cortex Agent</a:t>
            </a:r>
            <a:endParaRPr lang="en-US" sz="1500" dirty="0"/>
          </a:p>
        </p:txBody>
      </p:sp>
      <p:sp>
        <p:nvSpPr>
          <p:cNvPr id="15" name="Text 13"/>
          <p:cNvSpPr/>
          <p:nvPr/>
        </p:nvSpPr>
        <p:spPr>
          <a:xfrm>
            <a:off x="5029200" y="2304288"/>
            <a:ext cx="3657600" cy="256032"/>
          </a:xfrm>
          <a:prstGeom prst="rect">
            <a:avLst/>
          </a:prstGeom>
          <a:noFill/>
          <a:ln/>
        </p:spPr>
        <p:txBody>
          <a:bodyPr wrap="square" rtlCol="0" anchor="ctr"/>
          <a:lstStyle/>
          <a:p>
            <a:pPr algn="ctr" indent="0" marL="0">
              <a:buNone/>
            </a:pPr>
            <a:r>
              <a:rPr lang="en-US" sz="1000" b="1" dirty="0">
                <a:solidFill>
                  <a:srgbClr val="0891B2"/>
                </a:solidFill>
                <a:latin typeface="Calibri" pitchFamily="34" charset="0"/>
                <a:ea typeface="Calibri" pitchFamily="34" charset="-122"/>
                <a:cs typeface="Calibri" pitchFamily="34" charset="-120"/>
              </a:rPr>
              <a:t>POC_PIPELINE_INTELLIGENCE_AGENT</a:t>
            </a:r>
            <a:endParaRPr lang="en-US" sz="1000" dirty="0"/>
          </a:p>
        </p:txBody>
      </p:sp>
      <p:sp>
        <p:nvSpPr>
          <p:cNvPr id="16" name="Text 14"/>
          <p:cNvSpPr/>
          <p:nvPr/>
        </p:nvSpPr>
        <p:spPr>
          <a:xfrm>
            <a:off x="5120640" y="2578608"/>
            <a:ext cx="3474720" cy="256032"/>
          </a:xfrm>
          <a:prstGeom prst="rect">
            <a:avLst/>
          </a:prstGeom>
          <a:noFill/>
          <a:ln/>
        </p:spPr>
        <p:txBody>
          <a:bodyPr wrap="square"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Sits on top so anyone can chat in plain English and get answers and charts back.</a:t>
            </a:r>
            <a:endParaRPr lang="en-US" sz="950" dirty="0"/>
          </a:p>
        </p:txBody>
      </p:sp>
      <p:sp>
        <p:nvSpPr>
          <p:cNvPr id="17" name="Shape 15"/>
          <p:cNvSpPr/>
          <p:nvPr/>
        </p:nvSpPr>
        <p:spPr>
          <a:xfrm>
            <a:off x="4572000" y="2880360"/>
            <a:ext cx="0" cy="320040"/>
          </a:xfrm>
          <a:prstGeom prst="line">
            <a:avLst/>
          </a:prstGeom>
          <a:noFill/>
          <a:ln w="25400">
            <a:solidFill>
              <a:srgbClr val="0891B2"/>
            </a:solidFill>
            <a:prstDash val="solid"/>
          </a:ln>
        </p:spPr>
      </p:sp>
      <p:sp>
        <p:nvSpPr>
          <p:cNvPr id="18" name="Shape 16"/>
          <p:cNvSpPr/>
          <p:nvPr/>
        </p:nvSpPr>
        <p:spPr>
          <a:xfrm>
            <a:off x="1371600" y="3200400"/>
            <a:ext cx="6400800" cy="1645920"/>
          </a:xfrm>
          <a:prstGeom prst="roundRect">
            <a:avLst>
              <a:gd name="adj" fmla="val 6667"/>
            </a:avLst>
          </a:prstGeom>
          <a:solidFill>
            <a:srgbClr val="0D1B3E"/>
          </a:solidFill>
          <a:ln/>
          <a:effectLst>
            <a:outerShdw sx="100000" sy="100000" kx="0" ky="0" algn="bl" rotWithShape="0" blurRad="101600" dist="38100" dir="2700000">
              <a:srgbClr val="000000">
                <a:alpha val="12000"/>
              </a:srgbClr>
            </a:outerShdw>
          </a:effectLst>
        </p:spPr>
      </p:sp>
      <p:sp>
        <p:nvSpPr>
          <p:cNvPr id="19" name="Text 17"/>
          <p:cNvSpPr/>
          <p:nvPr/>
        </p:nvSpPr>
        <p:spPr>
          <a:xfrm>
            <a:off x="4114800" y="3337560"/>
            <a:ext cx="914400" cy="365760"/>
          </a:xfrm>
          <a:prstGeom prst="rect">
            <a:avLst/>
          </a:prstGeom>
          <a:noFill/>
          <a:ln/>
        </p:spPr>
        <p:txBody>
          <a:bodyPr wrap="square" rtlCol="0" anchor="ctr"/>
          <a:lstStyle/>
          <a:p>
            <a:pPr algn="ctr" indent="0" marL="0">
              <a:buNone/>
            </a:pPr>
            <a:r>
              <a:rPr lang="en-US" sz="1400" b="1" spc="300" kern="0" dirty="0">
                <a:solidFill>
                  <a:srgbClr val="38BDF8"/>
                </a:solidFill>
                <a:latin typeface="Calibri" pitchFamily="34" charset="0"/>
                <a:ea typeface="Calibri" pitchFamily="34" charset="-122"/>
                <a:cs typeface="Calibri" pitchFamily="34" charset="-120"/>
              </a:rPr>
              <a:t>USER</a:t>
            </a:r>
            <a:endParaRPr lang="en-US" sz="1400" dirty="0"/>
          </a:p>
        </p:txBody>
      </p:sp>
      <p:sp>
        <p:nvSpPr>
          <p:cNvPr id="20" name="Text 18"/>
          <p:cNvSpPr/>
          <p:nvPr/>
        </p:nvSpPr>
        <p:spPr>
          <a:xfrm>
            <a:off x="1920240" y="3611880"/>
            <a:ext cx="640080" cy="50292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1" name="Text 19"/>
          <p:cNvSpPr/>
          <p:nvPr/>
        </p:nvSpPr>
        <p:spPr>
          <a:xfrm>
            <a:off x="1600200" y="4160520"/>
            <a:ext cx="1325880" cy="256032"/>
          </a:xfrm>
          <a:prstGeom prst="rect">
            <a:avLst/>
          </a:prstGeom>
          <a:noFill/>
          <a:ln/>
        </p:spPr>
        <p:txBody>
          <a:bodyPr wrap="square" rtlCol="0" anchor="ctr"/>
          <a:lstStyle/>
          <a:p>
            <a:pPr algn="ctr" indent="0" marL="0">
              <a:buNone/>
            </a:pPr>
            <a:r>
              <a:rPr lang="en-US" sz="1000" b="1" dirty="0">
                <a:solidFill>
                  <a:srgbClr val="38BDF8"/>
                </a:solidFill>
                <a:latin typeface="Calibri" pitchFamily="34" charset="0"/>
                <a:ea typeface="Calibri" pitchFamily="34" charset="-122"/>
                <a:cs typeface="Calibri" pitchFamily="34" charset="-120"/>
              </a:rPr>
              <a:t>NL Q&amp;A</a:t>
            </a:r>
            <a:endParaRPr lang="en-US" sz="1000" dirty="0"/>
          </a:p>
        </p:txBody>
      </p:sp>
      <p:sp>
        <p:nvSpPr>
          <p:cNvPr id="22" name="Text 20"/>
          <p:cNvSpPr/>
          <p:nvPr/>
        </p:nvSpPr>
        <p:spPr>
          <a:xfrm>
            <a:off x="1600200" y="4434840"/>
            <a:ext cx="1325880" cy="347472"/>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Ask in plain English</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get answers instantly</a:t>
            </a:r>
            <a:endParaRPr lang="en-US" sz="850" dirty="0"/>
          </a:p>
        </p:txBody>
      </p:sp>
      <p:sp>
        <p:nvSpPr>
          <p:cNvPr id="23" name="Text 21"/>
          <p:cNvSpPr/>
          <p:nvPr/>
        </p:nvSpPr>
        <p:spPr>
          <a:xfrm>
            <a:off x="3429000" y="3611880"/>
            <a:ext cx="640080" cy="50292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4" name="Text 22"/>
          <p:cNvSpPr/>
          <p:nvPr/>
        </p:nvSpPr>
        <p:spPr>
          <a:xfrm>
            <a:off x="3108960" y="4160520"/>
            <a:ext cx="1325880" cy="256032"/>
          </a:xfrm>
          <a:prstGeom prst="rect">
            <a:avLst/>
          </a:prstGeom>
          <a:noFill/>
          <a:ln/>
        </p:spPr>
        <p:txBody>
          <a:bodyPr wrap="square" rtlCol="0" anchor="ctr"/>
          <a:lstStyle/>
          <a:p>
            <a:pPr algn="ctr" indent="0" marL="0">
              <a:buNone/>
            </a:pPr>
            <a:r>
              <a:rPr lang="en-US" sz="1000" b="1" dirty="0">
                <a:solidFill>
                  <a:srgbClr val="38BDF8"/>
                </a:solidFill>
                <a:latin typeface="Calibri" pitchFamily="34" charset="0"/>
                <a:ea typeface="Calibri" pitchFamily="34" charset="-122"/>
                <a:cs typeface="Calibri" pitchFamily="34" charset="-120"/>
              </a:rPr>
              <a:t>Dashboards</a:t>
            </a:r>
            <a:endParaRPr lang="en-US" sz="1000" dirty="0"/>
          </a:p>
        </p:txBody>
      </p:sp>
      <p:sp>
        <p:nvSpPr>
          <p:cNvPr id="25" name="Text 23"/>
          <p:cNvSpPr/>
          <p:nvPr/>
        </p:nvSpPr>
        <p:spPr>
          <a:xfrm>
            <a:off x="3108960" y="4434840"/>
            <a:ext cx="1325880" cy="347472"/>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Pre-built views on</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stale tables &amp; anomalies</a:t>
            </a:r>
            <a:endParaRPr lang="en-US" sz="850" dirty="0"/>
          </a:p>
        </p:txBody>
      </p:sp>
      <p:sp>
        <p:nvSpPr>
          <p:cNvPr id="26" name="Text 24"/>
          <p:cNvSpPr/>
          <p:nvPr/>
        </p:nvSpPr>
        <p:spPr>
          <a:xfrm>
            <a:off x="4937760" y="3611880"/>
            <a:ext cx="640080" cy="50292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7" name="Text 25"/>
          <p:cNvSpPr/>
          <p:nvPr/>
        </p:nvSpPr>
        <p:spPr>
          <a:xfrm>
            <a:off x="4617720" y="4160520"/>
            <a:ext cx="1325880" cy="256032"/>
          </a:xfrm>
          <a:prstGeom prst="rect">
            <a:avLst/>
          </a:prstGeom>
          <a:noFill/>
          <a:ln/>
        </p:spPr>
        <p:txBody>
          <a:bodyPr wrap="square" rtlCol="0" anchor="ctr"/>
          <a:lstStyle/>
          <a:p>
            <a:pPr algn="ctr" indent="0" marL="0">
              <a:buNone/>
            </a:pPr>
            <a:r>
              <a:rPr lang="en-US" sz="1000" b="1" dirty="0">
                <a:solidFill>
                  <a:srgbClr val="38BDF8"/>
                </a:solidFill>
                <a:latin typeface="Calibri" pitchFamily="34" charset="0"/>
                <a:ea typeface="Calibri" pitchFamily="34" charset="-122"/>
                <a:cs typeface="Calibri" pitchFamily="34" charset="-120"/>
              </a:rPr>
              <a:t>Field Explorer</a:t>
            </a:r>
            <a:endParaRPr lang="en-US" sz="1000" dirty="0"/>
          </a:p>
        </p:txBody>
      </p:sp>
      <p:sp>
        <p:nvSpPr>
          <p:cNvPr id="28" name="Text 26"/>
          <p:cNvSpPr/>
          <p:nvPr/>
        </p:nvSpPr>
        <p:spPr>
          <a:xfrm>
            <a:off x="4617720" y="4434840"/>
            <a:ext cx="1325880" cy="347472"/>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Understand any field</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across all pipelines</a:t>
            </a:r>
            <a:endParaRPr lang="en-US" sz="850" dirty="0"/>
          </a:p>
        </p:txBody>
      </p:sp>
      <p:sp>
        <p:nvSpPr>
          <p:cNvPr id="29" name="Text 27"/>
          <p:cNvSpPr/>
          <p:nvPr/>
        </p:nvSpPr>
        <p:spPr>
          <a:xfrm>
            <a:off x="6446520" y="3611880"/>
            <a:ext cx="640080" cy="50292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0" name="Text 28"/>
          <p:cNvSpPr/>
          <p:nvPr/>
        </p:nvSpPr>
        <p:spPr>
          <a:xfrm>
            <a:off x="6126480" y="4160520"/>
            <a:ext cx="1325880" cy="256032"/>
          </a:xfrm>
          <a:prstGeom prst="rect">
            <a:avLst/>
          </a:prstGeom>
          <a:noFill/>
          <a:ln/>
        </p:spPr>
        <p:txBody>
          <a:bodyPr wrap="square" rtlCol="0" anchor="ctr"/>
          <a:lstStyle/>
          <a:p>
            <a:pPr algn="ctr" indent="0" marL="0">
              <a:buNone/>
            </a:pPr>
            <a:r>
              <a:rPr lang="en-US" sz="1000" b="1" dirty="0">
                <a:solidFill>
                  <a:srgbClr val="38BDF8"/>
                </a:solidFill>
                <a:latin typeface="Calibri" pitchFamily="34" charset="0"/>
                <a:ea typeface="Calibri" pitchFamily="34" charset="-122"/>
                <a:cs typeface="Calibri" pitchFamily="34" charset="-120"/>
              </a:rPr>
              <a:t>Anomaly Alerts</a:t>
            </a:r>
            <a:endParaRPr lang="en-US" sz="1000" dirty="0"/>
          </a:p>
        </p:txBody>
      </p:sp>
      <p:sp>
        <p:nvSpPr>
          <p:cNvPr id="31" name="Text 29"/>
          <p:cNvSpPr/>
          <p:nvPr/>
        </p:nvSpPr>
        <p:spPr>
          <a:xfrm>
            <a:off x="6126480" y="4434840"/>
            <a:ext cx="1325880" cy="347472"/>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Auto-flagged issues</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with AI explanation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6858000" y="-457200"/>
            <a:ext cx="3657600" cy="3657600"/>
          </a:xfrm>
          <a:prstGeom prst="ellipse">
            <a:avLst/>
          </a:prstGeom>
          <a:solidFill>
            <a:srgbClr val="0891B2">
              <a:alpha val="20000"/>
            </a:srgbClr>
          </a:solidFill>
          <a:ln w="12700">
            <a:solidFill>
              <a:srgbClr val="0891B2"/>
            </a:solidFill>
            <a:prstDash val="solid"/>
          </a:ln>
        </p:spPr>
      </p:sp>
      <p:sp>
        <p:nvSpPr>
          <p:cNvPr id="3" name="Text 1"/>
          <p:cNvSpPr/>
          <p:nvPr/>
        </p:nvSpPr>
        <p:spPr>
          <a:xfrm>
            <a:off x="548640" y="457200"/>
            <a:ext cx="7315200" cy="411480"/>
          </a:xfrm>
          <a:prstGeom prst="rect">
            <a:avLst/>
          </a:prstGeom>
          <a:noFill/>
          <a:ln/>
        </p:spPr>
        <p:txBody>
          <a:bodyPr wrap="square" rtlCol="0" anchor="ctr"/>
          <a:lstStyle/>
          <a:p>
            <a:pPr indent="0" marL="0">
              <a:buNone/>
            </a:pPr>
            <a:r>
              <a:rPr lang="en-US" sz="1400" b="1" spc="200" kern="0" dirty="0">
                <a:solidFill>
                  <a:srgbClr val="38BDF8"/>
                </a:solidFill>
                <a:latin typeface="Calibri" pitchFamily="34" charset="0"/>
                <a:ea typeface="Calibri" pitchFamily="34" charset="-122"/>
                <a:cs typeface="Calibri" pitchFamily="34" charset="-120"/>
              </a:rPr>
              <a:t>In One Sentence</a:t>
            </a:r>
            <a:endParaRPr lang="en-US" sz="1400" dirty="0"/>
          </a:p>
        </p:txBody>
      </p:sp>
      <p:sp>
        <p:nvSpPr>
          <p:cNvPr id="4" name="Text 2"/>
          <p:cNvSpPr/>
          <p:nvPr/>
        </p:nvSpPr>
        <p:spPr>
          <a:xfrm>
            <a:off x="548640" y="960120"/>
            <a:ext cx="7772400" cy="1463040"/>
          </a:xfrm>
          <a:prstGeom prst="rect">
            <a:avLst/>
          </a:prstGeom>
          <a:noFill/>
          <a:ln/>
        </p:spPr>
        <p:txBody>
          <a:bodyPr wrap="square" rtlCol="0" anchor="ctr"/>
          <a:lstStyle/>
          <a:p>
            <a:pPr indent="0" marL="0">
              <a:buNone/>
            </a:pPr>
            <a:r>
              <a:rPr lang="en-US" sz="2200" i="1" dirty="0">
                <a:solidFill>
                  <a:srgbClr val="FFFFFF"/>
                </a:solidFill>
                <a:latin typeface="Cambria" pitchFamily="34" charset="0"/>
                <a:ea typeface="Cambria" pitchFamily="34" charset="-122"/>
                <a:cs typeface="Cambria" pitchFamily="34" charset="-120"/>
              </a:rPr>
              <a:t>"We take data we already have, let AI both explain our metadata and spot anomalies on its own, and expose it all through a chat agent so anyone can ask questions in plain English."</a:t>
            </a:r>
            <a:endParaRPr lang="en-US" sz="2200" dirty="0"/>
          </a:p>
        </p:txBody>
      </p:sp>
      <p:sp>
        <p:nvSpPr>
          <p:cNvPr id="5" name="Shape 3"/>
          <p:cNvSpPr/>
          <p:nvPr/>
        </p:nvSpPr>
        <p:spPr>
          <a:xfrm>
            <a:off x="548640" y="2514600"/>
            <a:ext cx="8046720" cy="0"/>
          </a:xfrm>
          <a:prstGeom prst="line">
            <a:avLst/>
          </a:prstGeom>
          <a:noFill/>
          <a:ln w="12700">
            <a:solidFill>
              <a:srgbClr val="0891B2"/>
            </a:solidFill>
            <a:prstDash val="solid"/>
          </a:ln>
        </p:spPr>
      </p:sp>
      <p:sp>
        <p:nvSpPr>
          <p:cNvPr id="6" name="Shape 4"/>
          <p:cNvSpPr/>
          <p:nvPr/>
        </p:nvSpPr>
        <p:spPr>
          <a:xfrm>
            <a:off x="548640" y="2743200"/>
            <a:ext cx="3931920" cy="868680"/>
          </a:xfrm>
          <a:prstGeom prst="roundRect">
            <a:avLst>
              <a:gd name="adj" fmla="val 10526"/>
            </a:avLst>
          </a:prstGeom>
          <a:solidFill>
            <a:srgbClr val="132347"/>
          </a:solidFill>
          <a:ln/>
          <a:effectLst>
            <a:outerShdw sx="100000" sy="100000" kx="0" ky="0" algn="bl" rotWithShape="0" blurRad="101600" dist="38100" dir="2700000">
              <a:srgbClr val="000000">
                <a:alpha val="12000"/>
              </a:srgbClr>
            </a:outerShdw>
          </a:effectLst>
        </p:spPr>
      </p:sp>
      <p:sp>
        <p:nvSpPr>
          <p:cNvPr id="7" name="Text 5"/>
          <p:cNvSpPr/>
          <p:nvPr/>
        </p:nvSpPr>
        <p:spPr>
          <a:xfrm>
            <a:off x="685800" y="2834640"/>
            <a:ext cx="365760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Zero new infrastructure</a:t>
            </a:r>
            <a:endParaRPr lang="en-US" sz="1400" dirty="0"/>
          </a:p>
        </p:txBody>
      </p:sp>
      <p:sp>
        <p:nvSpPr>
          <p:cNvPr id="8" name="Text 6"/>
          <p:cNvSpPr/>
          <p:nvPr/>
        </p:nvSpPr>
        <p:spPr>
          <a:xfrm>
            <a:off x="685800" y="3218688"/>
            <a:ext cx="365760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Built natively in Snowflake</a:t>
            </a:r>
            <a:endParaRPr lang="en-US" sz="1100" dirty="0"/>
          </a:p>
        </p:txBody>
      </p:sp>
      <p:sp>
        <p:nvSpPr>
          <p:cNvPr id="9" name="Shape 7"/>
          <p:cNvSpPr/>
          <p:nvPr/>
        </p:nvSpPr>
        <p:spPr>
          <a:xfrm>
            <a:off x="4754880" y="2743200"/>
            <a:ext cx="3931920" cy="868680"/>
          </a:xfrm>
          <a:prstGeom prst="roundRect">
            <a:avLst>
              <a:gd name="adj" fmla="val 10526"/>
            </a:avLst>
          </a:prstGeom>
          <a:solidFill>
            <a:srgbClr val="132347"/>
          </a:solidFill>
          <a:ln/>
          <a:effectLst>
            <a:outerShdw sx="100000" sy="100000" kx="0" ky="0" algn="bl" rotWithShape="0" blurRad="101600" dist="38100" dir="2700000">
              <a:srgbClr val="000000">
                <a:alpha val="12000"/>
              </a:srgbClr>
            </a:outerShdw>
          </a:effectLst>
        </p:spPr>
      </p:sp>
      <p:sp>
        <p:nvSpPr>
          <p:cNvPr id="10" name="Text 8"/>
          <p:cNvSpPr/>
          <p:nvPr/>
        </p:nvSpPr>
        <p:spPr>
          <a:xfrm>
            <a:off x="4892040" y="2834640"/>
            <a:ext cx="365760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No data movement</a:t>
            </a:r>
            <a:endParaRPr lang="en-US" sz="1400" dirty="0"/>
          </a:p>
        </p:txBody>
      </p:sp>
      <p:sp>
        <p:nvSpPr>
          <p:cNvPr id="11" name="Text 9"/>
          <p:cNvSpPr/>
          <p:nvPr/>
        </p:nvSpPr>
        <p:spPr>
          <a:xfrm>
            <a:off x="4892040" y="3218688"/>
            <a:ext cx="365760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All metadata already exists</a:t>
            </a:r>
            <a:endParaRPr lang="en-US" sz="1100" dirty="0"/>
          </a:p>
        </p:txBody>
      </p:sp>
      <p:sp>
        <p:nvSpPr>
          <p:cNvPr id="12" name="Shape 10"/>
          <p:cNvSpPr/>
          <p:nvPr/>
        </p:nvSpPr>
        <p:spPr>
          <a:xfrm>
            <a:off x="548640" y="3749040"/>
            <a:ext cx="3931920" cy="868680"/>
          </a:xfrm>
          <a:prstGeom prst="roundRect">
            <a:avLst>
              <a:gd name="adj" fmla="val 10526"/>
            </a:avLst>
          </a:prstGeom>
          <a:solidFill>
            <a:srgbClr val="132347"/>
          </a:solidFill>
          <a:ln/>
          <a:effectLst>
            <a:outerShdw sx="100000" sy="100000" kx="0" ky="0" algn="bl" rotWithShape="0" blurRad="101600" dist="38100" dir="2700000">
              <a:srgbClr val="000000">
                <a:alpha val="12000"/>
              </a:srgbClr>
            </a:outerShdw>
          </a:effectLst>
        </p:spPr>
      </p:sp>
      <p:sp>
        <p:nvSpPr>
          <p:cNvPr id="13" name="Text 11"/>
          <p:cNvSpPr/>
          <p:nvPr/>
        </p:nvSpPr>
        <p:spPr>
          <a:xfrm>
            <a:off x="685800" y="3840480"/>
            <a:ext cx="365760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AI-native from the start</a:t>
            </a:r>
            <a:endParaRPr lang="en-US" sz="1400" dirty="0"/>
          </a:p>
        </p:txBody>
      </p:sp>
      <p:sp>
        <p:nvSpPr>
          <p:cNvPr id="14" name="Text 12"/>
          <p:cNvSpPr/>
          <p:nvPr/>
        </p:nvSpPr>
        <p:spPr>
          <a:xfrm>
            <a:off x="685800" y="4224528"/>
            <a:ext cx="365760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Cortex AI_COMPLETE throughout</a:t>
            </a:r>
            <a:endParaRPr lang="en-US" sz="1100" dirty="0"/>
          </a:p>
        </p:txBody>
      </p:sp>
      <p:sp>
        <p:nvSpPr>
          <p:cNvPr id="15" name="Shape 13"/>
          <p:cNvSpPr/>
          <p:nvPr/>
        </p:nvSpPr>
        <p:spPr>
          <a:xfrm>
            <a:off x="4754880" y="3749040"/>
            <a:ext cx="3931920" cy="868680"/>
          </a:xfrm>
          <a:prstGeom prst="roundRect">
            <a:avLst>
              <a:gd name="adj" fmla="val 10526"/>
            </a:avLst>
          </a:prstGeom>
          <a:solidFill>
            <a:srgbClr val="132347"/>
          </a:solidFill>
          <a:ln/>
          <a:effectLst>
            <a:outerShdw sx="100000" sy="100000" kx="0" ky="0" algn="bl" rotWithShape="0" blurRad="101600" dist="38100" dir="2700000">
              <a:srgbClr val="000000">
                <a:alpha val="12000"/>
              </a:srgbClr>
            </a:outerShdw>
          </a:effectLst>
        </p:spPr>
      </p:sp>
      <p:sp>
        <p:nvSpPr>
          <p:cNvPr id="16" name="Text 14"/>
          <p:cNvSpPr/>
          <p:nvPr/>
        </p:nvSpPr>
        <p:spPr>
          <a:xfrm>
            <a:off x="4892040" y="3840480"/>
            <a:ext cx="365760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Rule-free anomaly detection</a:t>
            </a:r>
            <a:endParaRPr lang="en-US" sz="1400" dirty="0"/>
          </a:p>
        </p:txBody>
      </p:sp>
      <p:sp>
        <p:nvSpPr>
          <p:cNvPr id="17" name="Text 15"/>
          <p:cNvSpPr/>
          <p:nvPr/>
        </p:nvSpPr>
        <p:spPr>
          <a:xfrm>
            <a:off x="4892040" y="4224528"/>
            <a:ext cx="365760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System learns; no thresholds</a:t>
            </a:r>
            <a:endParaRPr lang="en-US" sz="1100" dirty="0"/>
          </a:p>
        </p:txBody>
      </p:sp>
      <p:sp>
        <p:nvSpPr>
          <p:cNvPr id="18" name="Text 16"/>
          <p:cNvSpPr/>
          <p:nvPr/>
        </p:nvSpPr>
        <p:spPr>
          <a:xfrm>
            <a:off x="0" y="4828032"/>
            <a:ext cx="9144000" cy="274320"/>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COMM_DEV.SANDBOX   ·   Cortex AI POC   ·   June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COMM_DEV Pipeline Intelligence - Cortex AI POC</dc:title>
  <dc:subject>PptxGenJS Presentation</dc:subject>
  <dc:creator>PptxGenJS</dc:creator>
  <cp:lastModifiedBy>PptxGenJS</cp:lastModifiedBy>
  <cp:revision>1</cp:revision>
  <dcterms:created xsi:type="dcterms:W3CDTF">2026-06-10T18:51:09Z</dcterms:created>
  <dcterms:modified xsi:type="dcterms:W3CDTF">2026-06-10T18:51:09Z</dcterms:modified>
</cp:coreProperties>
</file>